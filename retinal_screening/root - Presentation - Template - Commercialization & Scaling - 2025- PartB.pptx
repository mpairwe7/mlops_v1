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737" r:id="rId1"/>
  </p:sldMasterIdLst>
  <p:notesMasterIdLst>
    <p:notesMasterId r:id="rId21"/>
  </p:notesMasterIdLst>
  <p:sldIdLst>
    <p:sldId id="274" r:id="rId2"/>
    <p:sldId id="268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90" r:id="rId13"/>
    <p:sldId id="291" r:id="rId14"/>
    <p:sldId id="292" r:id="rId15"/>
    <p:sldId id="293" r:id="rId16"/>
    <p:sldId id="294" r:id="rId17"/>
    <p:sldId id="266" r:id="rId18"/>
    <p:sldId id="285" r:id="rId19"/>
    <p:sldId id="289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2" roundtripDataSignature="AMtx7mifX52E/O2vMdvfztXTaB/Ggd8j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43" y="78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Example (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Maama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Digital Wallet):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Problem: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Women traders in informal markets lack accessible digital finance tools, credit scoring, and business literacy.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Why AI?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Traditional systems fail to capture alternative credit indicators (social trust, spending habits, consistency). AI models can analyze micro-interactions to generate inclusive credit profiles.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Stakeholders: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Local women groups, microfinance institutions, digital savings groups.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Impact: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Expands access to finance, reduces default risk, and builds financial autonomy.</a:t>
            </a:r>
          </a:p>
          <a:p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Tip: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Frame the problem in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measurable, verifiable terms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, linking it to SDGs (e.g., gender equality, financial inclusion, decent work).</a:t>
            </a:r>
          </a:p>
          <a:p>
            <a:b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</a:b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391155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Example (Sign Language GPT):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Primary Users: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Deaf individuals, sign interpreters, teachers, and content creators.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Secondary Stakeholders: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Ministry of Education, NGOs (e.g., UNAPD), tech incubators.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Ecosystem Roles: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sz="1200" b="0" i="1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Data Providers: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Uganda National Association of the Deaf. - </a:t>
            </a:r>
            <a:r>
              <a:rPr lang="en-US" sz="1200" b="0" i="1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Developers: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AI engineers training vision-language models. - </a:t>
            </a:r>
            <a:r>
              <a:rPr lang="en-US" sz="1200" b="0" i="1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Validators: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Accessibility experts verifying translation accuracy.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Governance: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Oversight by NITA-U, NCDC, and academic accessibility boards.</a:t>
            </a:r>
          </a:p>
          <a:p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Visualization Tip: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Include an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ecosystem diagram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with arrows showing data flow, model training, feedback loops, and user interactions.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40057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Example (HELM-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Wifery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):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Data Types: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Text-based maternal health dialogues, patient demographic data, vital readings.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Sources: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Community midwives, EMR systems, open health data repositories.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Pipeline: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Semi-automated data annotation, multilingual translation, medical term standardization.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Ethical Governance: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Adheres to Uganda Data Protection and Privacy Act (2019); aligns with WHO Digital Health Ethics Framework.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Value: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Builds accurate risk prediction models for pregnancy complications, guiding early intervention.</a:t>
            </a:r>
          </a:p>
          <a:p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Tip: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Treat data as a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strategic asset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—not just a training input—defining how its integrity translates into trust and monetization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087706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Example (AgricCare AI):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AI Type: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Computer Vision (CNN + Explainable AI layers).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Inputs: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Leaf imagery, weather data, and soil health metrics.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Outputs: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Classification of crop diseases and suggested treatments with confidence scores.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Architecture: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Hybrid model combining CNN for image classification and LSTM for temporal data patterns.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Explainability Layer: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Grad-CAM visual overlays show which regions influenced the prediction.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Integration: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Mobile app with offline support, real-time farmer alerts, and dashboard analytics for agricultural officers.</a:t>
            </a:r>
          </a:p>
          <a:p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Visualization Tip: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Include a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simplified AI workflow diagram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showing Data → Model → Output → User Feedback → Continuous Learning.</a:t>
            </a:r>
          </a:p>
          <a:p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Insight: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Define not only </a:t>
            </a:r>
            <a:r>
              <a:rPr lang="en-US" sz="1200" b="0" i="1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what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your AI does but </a:t>
            </a:r>
            <a:r>
              <a:rPr lang="en-US" sz="1200" b="0" i="1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how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it fits ethically, economically, and operationally into users’ real-world routines.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577288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Example (HELM-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Wifery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):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Technical: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AI triage accuracy ≥ 90%, false negative rate &lt; 5%.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User-Centric: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85% satisfaction among midwives using mobile diagnostic app.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Ethical: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Bias under 10% across different maternal age groups.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Business: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Increase in partner health centers by 30% annually.</a:t>
            </a:r>
          </a:p>
          <a:p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Tip: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Use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multi-dimensional dashboards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combining performance, fairness, and financial metrics.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371716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Example (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Maama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Digital Wallet):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Unfair Advantage: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- Proprietary dataset of behavioral finance patterns among women traders in informal economies. - Strong partnerships with microfinance institutions and cooperatives. - Domain-specific LLM trained on regional dialects and culturally contextual financial advice. - Integration of Responsible AI features (bias mitigation, explainability) as a trust advantage.</a:t>
            </a:r>
          </a:p>
          <a:p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Tip: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Link your advantage to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data uniqueness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model specialization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, and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ethical reliability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— all critical in AI scaling.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388884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Example (Sign Language GPT):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Acquisition: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Partnerships with universities and inclusion NGOs.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Delivery: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Free mobile app and API integration for educational platforms.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Retention: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AI continuously retrained with new sign variations via user submissions.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Promotion: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Demonstrations at tech expos, accessibility conferences, and media coverage.</a:t>
            </a:r>
          </a:p>
          <a:p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Tip: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Combine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digital and social distribution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— leverage community networks, open data platforms, and hackathons for visibility.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086346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Example (AgricCare AI):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Freemium: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Basic disease detection free for smallholders; premium analytics for agribusinesses.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Subscription: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Government agriculture offices pay for district-wide disease intelligence.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Licensing: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Partnered private companies embed model via API.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Indirect: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Data licensing for climate research institutions under strict governance.</a:t>
            </a:r>
          </a:p>
          <a:p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Tip: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Ensure your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revenue model aligns with fairness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— avoid exploitative data monetization or biased premium features.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003731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Example (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GgalixAI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Ltd Ecosystem):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Human: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Multidisciplinary team combining AI engineers, social scientists, and inclusion advocates.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Infrastructure: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Private GPU clusters for training models locally, hybrid cloud for deployment.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Data: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Curated regional datasets for health, agriculture, and fintech domains.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Organizational: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Institutional collaborations (Makerere University, NCDC, University of Edinburgh).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Financial: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Mix of research grants, consultancy income, and product subscription streams.</a:t>
            </a:r>
          </a:p>
          <a:p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Tip: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Align your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resource strategy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with scalability — invest in modular, interoperable AI pipelines and cross-trained human teams.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036363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Example (HELM-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Wifery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):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Model Lifecycle: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Monthly retraining using new health data from clinics.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Operational: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Continuous monitoring of triage recommendations for medical consistency.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Governance: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Biannual ethical review meetings with maternal health boards.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Customer Engagement: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Midwives contribute feedback through in-app reporting.</a:t>
            </a:r>
          </a:p>
          <a:p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Tip: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Document workflows using 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MLOps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pipelines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— continuous integration, continuous delivery, and continuous monitoring.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362809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Example (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Maama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Digital Wallet):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Technology Partners: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AWS (cloud hosting), Twilio (SMS AI integration).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Data Partners: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Bank of Uganda financial literacy datasets.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Ethical Oversight: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Makerere AI Ethics Committee and Uganda Communications Commission.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Distribution Partners: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MTN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MoMo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API for mobile financial transactions.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Strategic Collaborators: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Mastercard Foundation for women inclusion programs.</a:t>
            </a:r>
          </a:p>
          <a:p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Tip: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Structure partnerships into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innovation (R&amp;D)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governance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, and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commercial scaling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categories for clarity.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682493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Example (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GgalixAI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Ltd):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Data Costs: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UGX 15M annually for labeled datasets and local collection.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Compute: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Hybrid cloud plan with GPU credits (UGX 10M per quarter).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Human Resource: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Cross-functional AI and data teams on long-term contracts.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Compliance: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Ethical audits, security compliance certifications (ISO/IEC 27001).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Marketing: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Sponsorship of AI Week Uganda and fintech inclusion expos.</a:t>
            </a:r>
          </a:p>
          <a:p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Tip: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Plan for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scaling elasticity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— costs will rise with data volume, model size, and user growth; forecast accordingly.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248617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Example (Sign Language GPT):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Governance: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Dual oversight between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GgalixAI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and NCDC for accessibility standards.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Bias Auditing: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Regular checks for ethnic and regional gesture variations.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Transparency: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Publish open model cards showing datasets and accuracy benchmarks.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Ethical Compliance: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Adheres to AI4D Africa’s Responsible AI Guidelines.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Accountability: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Feedback channel for community correction and model refinement.</a:t>
            </a:r>
          </a:p>
          <a:p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Tip: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Position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responsible AI governance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as your brand differentiator — it builds institutional trust and international credibility.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947916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Example (AgricCare AI):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Scalability: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Deployed on modular cloud microservices, expandable to regional servers.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Continuous Learning: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Models updated quarterly with new weather and pest data.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Localization: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Supports multiple regional languages and farming conditions.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Sustainability: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Revenue shared with local cooperatives; reduced pesticide use lowers environmental impact. -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Resilience: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Backup models on decentralized cloud ensure continuity during outages.</a:t>
            </a:r>
          </a:p>
          <a:p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Tip: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Combine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technical scaling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with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social and ecological scaling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— ensuring long-term adoption and systemic trust.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91447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9FBD9A6-F4F7-4C81-8C3B-C6430A865157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1</a:t>
            </a:r>
            <a:fld id="{00000000-1234-1234-1234-123412341234}" type="slidenum">
              <a:rPr lang="en-US" smtClean="0"/>
              <a:pPr/>
              <a:t>‹#›</a:t>
            </a:fld>
            <a:endParaRPr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Makerere University College of Computing &amp; Information Sciences (CoCIS)">
            <a:extLst>
              <a:ext uri="{FF2B5EF4-FFF2-40B4-BE49-F238E27FC236}">
                <a16:creationId xmlns:a16="http://schemas.microsoft.com/office/drawing/2014/main" id="{63364D16-397A-A16E-95C8-EFCBAB66D86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" y="-12360"/>
            <a:ext cx="1793633" cy="3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Makerere University - data.org">
            <a:extLst>
              <a:ext uri="{FF2B5EF4-FFF2-40B4-BE49-F238E27FC236}">
                <a16:creationId xmlns:a16="http://schemas.microsoft.com/office/drawing/2014/main" id="{F80BC8B0-28EA-762F-0D7A-5B6334F51B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9756" y="10553"/>
            <a:ext cx="704660" cy="600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7230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D9A6-F4F7-4C81-8C3B-C6430A865157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8C338-E682-4B46-9632-D57B5813D090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 descr="Makerere University College of Computing &amp; Information Sciences (CoCIS)">
            <a:extLst>
              <a:ext uri="{FF2B5EF4-FFF2-40B4-BE49-F238E27FC236}">
                <a16:creationId xmlns:a16="http://schemas.microsoft.com/office/drawing/2014/main" id="{4F89D84E-2BC7-4D37-DB09-CC9EC19BEC8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" y="-12360"/>
            <a:ext cx="1793633" cy="3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6900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D9A6-F4F7-4C81-8C3B-C6430A865157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Makerere University College of Computing &amp; Information Sciences (CoCIS)">
            <a:extLst>
              <a:ext uri="{FF2B5EF4-FFF2-40B4-BE49-F238E27FC236}">
                <a16:creationId xmlns:a16="http://schemas.microsoft.com/office/drawing/2014/main" id="{B178440F-7742-4EF6-4D36-FA77822320E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" y="-12360"/>
            <a:ext cx="1793633" cy="3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Makerere University - data.org">
            <a:extLst>
              <a:ext uri="{FF2B5EF4-FFF2-40B4-BE49-F238E27FC236}">
                <a16:creationId xmlns:a16="http://schemas.microsoft.com/office/drawing/2014/main" id="{DFFA85FC-D464-4A1E-D99E-06ECBF3D5E8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9756" y="10553"/>
            <a:ext cx="704660" cy="600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0043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D9A6-F4F7-4C81-8C3B-C6430A865157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2" descr="Makerere University College of Computing &amp; Information Sciences (CoCIS)">
            <a:extLst>
              <a:ext uri="{FF2B5EF4-FFF2-40B4-BE49-F238E27FC236}">
                <a16:creationId xmlns:a16="http://schemas.microsoft.com/office/drawing/2014/main" id="{DB6798A6-D4E5-DDF7-CD1E-636FF7036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" y="-12360"/>
            <a:ext cx="1793633" cy="3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8640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D9A6-F4F7-4C81-8C3B-C6430A865157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2" descr="Makerere University College of Computing &amp; Information Sciences (CoCIS)">
            <a:extLst>
              <a:ext uri="{FF2B5EF4-FFF2-40B4-BE49-F238E27FC236}">
                <a16:creationId xmlns:a16="http://schemas.microsoft.com/office/drawing/2014/main" id="{E2D8642E-3B24-38FE-1A15-7D064D01102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" y="-12360"/>
            <a:ext cx="1793633" cy="3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2410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D9A6-F4F7-4C81-8C3B-C6430A865157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2" descr="Makerere University College of Computing &amp; Information Sciences (CoCIS)">
            <a:extLst>
              <a:ext uri="{FF2B5EF4-FFF2-40B4-BE49-F238E27FC236}">
                <a16:creationId xmlns:a16="http://schemas.microsoft.com/office/drawing/2014/main" id="{AAEE5B36-4AC6-34D0-3EE3-75ECA02E60C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" y="-12360"/>
            <a:ext cx="1793633" cy="3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5124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D9A6-F4F7-4C81-8C3B-C6430A865157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2" descr="Makerere University College of Computing &amp; Information Sciences (CoCIS)">
            <a:extLst>
              <a:ext uri="{FF2B5EF4-FFF2-40B4-BE49-F238E27FC236}">
                <a16:creationId xmlns:a16="http://schemas.microsoft.com/office/drawing/2014/main" id="{5DFE70A8-8DEC-E1E0-0F80-3CC5E4283A6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" y="-12360"/>
            <a:ext cx="1793633" cy="3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9258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D9A6-F4F7-4C81-8C3B-C6430A865157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2" descr="Makerere University College of Computing &amp; Information Sciences (CoCIS)">
            <a:extLst>
              <a:ext uri="{FF2B5EF4-FFF2-40B4-BE49-F238E27FC236}">
                <a16:creationId xmlns:a16="http://schemas.microsoft.com/office/drawing/2014/main" id="{8D6953CF-067D-E709-05F8-F0DD3D17A8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" y="-12360"/>
            <a:ext cx="1793633" cy="3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5677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D9A6-F4F7-4C81-8C3B-C6430A865157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Makerere University College of Computing &amp; Information Sciences (CoCIS)">
            <a:extLst>
              <a:ext uri="{FF2B5EF4-FFF2-40B4-BE49-F238E27FC236}">
                <a16:creationId xmlns:a16="http://schemas.microsoft.com/office/drawing/2014/main" id="{F0389045-4EC2-D8FE-3AD1-AB97C511A5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" y="-12360"/>
            <a:ext cx="1793633" cy="3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576664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D9A6-F4F7-4C81-8C3B-C6430A865157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 descr="Makerere University College of Computing &amp; Information Sciences (CoCIS)">
            <a:extLst>
              <a:ext uri="{FF2B5EF4-FFF2-40B4-BE49-F238E27FC236}">
                <a16:creationId xmlns:a16="http://schemas.microsoft.com/office/drawing/2014/main" id="{E3D776D8-4C08-7E05-5A99-451839D024E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" y="-12360"/>
            <a:ext cx="1793633" cy="3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4775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D9A6-F4F7-4C81-8C3B-C6430A865157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Makerere University College of Computing &amp; Information Sciences (CoCIS)">
            <a:extLst>
              <a:ext uri="{FF2B5EF4-FFF2-40B4-BE49-F238E27FC236}">
                <a16:creationId xmlns:a16="http://schemas.microsoft.com/office/drawing/2014/main" id="{EAAD6571-8582-73A0-E399-4E24B7F44E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" y="-12360"/>
            <a:ext cx="1793633" cy="3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2283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C9FBD9A6-F4F7-4C81-8C3B-C6430A865157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Makerere University - data.org">
            <a:extLst>
              <a:ext uri="{FF2B5EF4-FFF2-40B4-BE49-F238E27FC236}">
                <a16:creationId xmlns:a16="http://schemas.microsoft.com/office/drawing/2014/main" id="{DE1A894A-8052-B57C-2DF3-1C78D4ABAFB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9756" y="10553"/>
            <a:ext cx="704660" cy="600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Makerere University College of Computing &amp; Information Sciences (CoCIS)">
            <a:extLst>
              <a:ext uri="{FF2B5EF4-FFF2-40B4-BE49-F238E27FC236}">
                <a16:creationId xmlns:a16="http://schemas.microsoft.com/office/drawing/2014/main" id="{67475E0E-31FE-D872-A2E6-0821144EF9C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" y="-12360"/>
            <a:ext cx="1793633" cy="3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9829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0000"/>
              <a:lumOff val="10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78890" y="5081436"/>
            <a:ext cx="3741575" cy="1463040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Department of Computer Science, COCIS</a:t>
            </a:r>
            <a:br>
              <a:rPr lang="en-US" sz="2800" dirty="0"/>
            </a:br>
            <a:r>
              <a:rPr lang="en-US" sz="2800" dirty="0"/>
              <a:t>Makerere University</a:t>
            </a:r>
            <a:br>
              <a:rPr lang="en-US" sz="2800" dirty="0"/>
            </a:br>
            <a:r>
              <a:rPr lang="en-US" sz="2800" dirty="0"/>
              <a:t>Lecturer: Ggaliwango Marvin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9661" y="5016121"/>
            <a:ext cx="7904584" cy="1463040"/>
          </a:xfrm>
        </p:spPr>
        <p:txBody>
          <a:bodyPr>
            <a:normAutofit/>
          </a:bodyPr>
          <a:lstStyle/>
          <a:p>
            <a:r>
              <a:rPr dirty="0"/>
              <a:t>- Group Number</a:t>
            </a:r>
          </a:p>
          <a:p>
            <a:r>
              <a:rPr dirty="0"/>
              <a:t>- Group Name (if any)</a:t>
            </a:r>
          </a:p>
          <a:p>
            <a:r>
              <a:rPr dirty="0"/>
              <a:t>- Names &amp; University Registration Numbers of Group Members</a:t>
            </a:r>
          </a:p>
        </p:txBody>
      </p:sp>
      <p:sp>
        <p:nvSpPr>
          <p:cNvPr id="5" name="Google Shape;121;p5">
            <a:extLst>
              <a:ext uri="{FF2B5EF4-FFF2-40B4-BE49-F238E27FC236}">
                <a16:creationId xmlns:a16="http://schemas.microsoft.com/office/drawing/2014/main" id="{4E878665-B1AB-FD8C-60BD-A80BFE938BBB}"/>
              </a:ext>
            </a:extLst>
          </p:cNvPr>
          <p:cNvSpPr txBox="1">
            <a:spLocks/>
          </p:cNvSpPr>
          <p:nvPr/>
        </p:nvSpPr>
        <p:spPr>
          <a:xfrm>
            <a:off x="643812" y="3429000"/>
            <a:ext cx="10730204" cy="60593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accent2"/>
              </a:buClr>
              <a:buSzPct val="100000"/>
              <a:buFont typeface="Tw Cen MT" panose="020B0602020104020603" pitchFamily="34" charset="0"/>
              <a:buNone/>
              <a:defRPr sz="180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dirty="0"/>
              <a:t>Target Customers: </a:t>
            </a:r>
          </a:p>
        </p:txBody>
      </p:sp>
      <p:sp>
        <p:nvSpPr>
          <p:cNvPr id="6" name="Google Shape;95;p1">
            <a:extLst>
              <a:ext uri="{FF2B5EF4-FFF2-40B4-BE49-F238E27FC236}">
                <a16:creationId xmlns:a16="http://schemas.microsoft.com/office/drawing/2014/main" id="{D45BDEC5-3242-EBA4-7E1E-6BAD9B148C53}"/>
              </a:ext>
            </a:extLst>
          </p:cNvPr>
          <p:cNvSpPr/>
          <p:nvPr/>
        </p:nvSpPr>
        <p:spPr>
          <a:xfrm>
            <a:off x="978159" y="1487956"/>
            <a:ext cx="10235681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000" b="1" i="1" dirty="0">
                <a:solidFill>
                  <a:schemeClr val="dk1"/>
                </a:solidFill>
              </a:rPr>
              <a:t>Creative Short Name of the Innovation</a:t>
            </a:r>
            <a:endParaRPr sz="4000" i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Deployed - AI Software System Demonstration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</a:t>
            </a:r>
            <a:r>
              <a:rPr dirty="0"/>
              <a:t> a short demo video.</a:t>
            </a:r>
          </a:p>
          <a:p>
            <a:r>
              <a:rPr dirty="0"/>
              <a:t>Tip: Keep it under 2 minutes. Test it before the presentation.</a:t>
            </a:r>
            <a:endParaRPr lang="en-US" dirty="0"/>
          </a:p>
          <a:p>
            <a:r>
              <a:rPr lang="en-US" dirty="0"/>
              <a:t>You will demonstrate the deployed System LIVE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Space &amp; Purpose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Objective: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Identify and justify the real-world problem your AI system addresses and define its social or commercial importance.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 is the core problem?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Describe the pain point or inefficiency.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Who experiences it most?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Identify target groups and affected stakeholders.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Why is AI essential here?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Justify why AI—not simple automation—is needed.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What’s the measurable impact?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Outline intended economic, social, or behavioral outcomes.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Users, Stakeholders &amp; Ecosystem Actors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51460" marR="0" indent="-342900">
              <a:spcBef>
                <a:spcPts val="900"/>
              </a:spcBef>
              <a:spcAft>
                <a:spcPts val="900"/>
              </a:spcAft>
              <a:buFont typeface="Wingdings" panose="05000000000000000000" pitchFamily="2" charset="2"/>
              <a:buChar char="ü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Primary Users: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Directly use or benefit from your AI system. </a:t>
            </a:r>
          </a:p>
          <a:p>
            <a:pPr marL="251460" marR="0" indent="-342900">
              <a:spcBef>
                <a:spcPts val="900"/>
              </a:spcBef>
              <a:spcAft>
                <a:spcPts val="900"/>
              </a:spcAft>
              <a:buFont typeface="Wingdings" panose="05000000000000000000" pitchFamily="2" charset="2"/>
              <a:buChar char="ü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Secondary Stakeholders: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Institutions, regulators, developers, and societal groups indirectly affected. </a:t>
            </a:r>
          </a:p>
          <a:p>
            <a:pPr marL="251460" marR="0" indent="-342900">
              <a:spcBef>
                <a:spcPts val="900"/>
              </a:spcBef>
              <a:spcAft>
                <a:spcPts val="900"/>
              </a:spcAft>
              <a:buFont typeface="Wingdings" panose="05000000000000000000" pitchFamily="2" charset="2"/>
              <a:buChar char="ü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Ecosystem Roles: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Data suppliers, API consumers, algorithm designers, platform maintainers. </a:t>
            </a:r>
          </a:p>
          <a:p>
            <a:pPr marL="251460" marR="0" indent="-342900">
              <a:spcBef>
                <a:spcPts val="900"/>
              </a:spcBef>
              <a:spcAft>
                <a:spcPts val="900"/>
              </a:spcAft>
              <a:buFont typeface="Wingdings" panose="05000000000000000000" pitchFamily="2" charset="2"/>
              <a:buChar char="ü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Governance Entities: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Who ensures ethical compliance and technical reliability?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Sources &amp; Value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marR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Objective: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Define the data backbone—its nature, sources, governance, and role in value creation.</a:t>
            </a:r>
          </a:p>
          <a:p>
            <a:pPr marL="457200" indent="-457200"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 Types: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Text, image, audio, sensor, tabular.</a:t>
            </a:r>
          </a:p>
          <a:p>
            <a:pPr marL="457200" indent="-457200"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Sources: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Open datasets, proprietary collections, community contributions. </a:t>
            </a:r>
          </a:p>
          <a:p>
            <a:pPr marL="457200" indent="-457200"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Processing Pipeline: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Collection → Cleaning → Annotation → Validation → Storage. </a:t>
            </a:r>
          </a:p>
          <a:p>
            <a:pPr marL="457200" indent="-457200"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Ethical &amp; Legal Framework: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Compliance with national data protection acts, informed consent, anonymization.</a:t>
            </a:r>
          </a:p>
          <a:p>
            <a:pPr marL="457200" indent="-457200"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Value Mechanism: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How the data directly or indirectly contributes to commercial or social value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Solution &amp; AI System Description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marR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Objective: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Describe the AI-driven solution, its architecture, core logic, and technical distinctiveness.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 AI methods or algorithms are used (e.g., NLP, CV, RL, transformer-based models)?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 are the model inputs and outputs?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How does the AI generate decisions or insights?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How does it integrate with user workflows, existing systems, or APIs?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 responsible AI mechanisms are embedded (e.g., explainability, bias control)?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Metrics &amp; Evaluation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marR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Objective: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Define how success is measured — technically, ethically, and commercially.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Technical Metrics: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Accuracy, F1-score, latency, throughput, uptime, and error rate.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User-Centric Metrics: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Adoption rate, session duration, user satisfaction (CSAT), Net Promoter Score (NPS).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Ethical Metrics: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Fairness (e.g., demographic parity), interpretability (e.g., SHAP fidelity), bias mitigation, transparency score.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Business Metrics: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Customer acquisition cost (CAC), lifetime value (LTV), churn rate, revenue growth, return on AI investment (ROAI).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Unfair Advantage &amp; Differentiation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Objective: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Identify your unique competitive edge and how it creates defensibility.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 do you have that others can’t easily copy (e.g., proprietary datasets, IP, partnerships)?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 learning or feedback loops strengthen your product over time?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How does your AI model or infrastructure sustain long-term differentiation?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Channels &amp; Distribution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marR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Objective: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Describe how users discover, access, and engage with your AI system.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Acquisition Channels: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SEO, webinars, social media, API documentation portals, referral programs.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Delivery Channels: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Mobile apps, web apps, APIs, chatbots, platform integrations (Slack, WhatsApp, SMS).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Partnerships: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Collaboration with universities, NGOs, and digital literacy campaigns.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Retention Tactics: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Continuous updates, gamified learning, community support.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Revenue Streams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marR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Objective: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Outline how your AI system generates income and sustains operations.</a:t>
            </a:r>
          </a:p>
          <a:p>
            <a:pPr marL="457200" indent="-457200"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Direct Revenue Models: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Subscriptions (SaaS), licensing fees, pay-per-use APIs. </a:t>
            </a:r>
          </a:p>
          <a:p>
            <a:pPr marL="457200" indent="-457200"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Indirect Revenue Models: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Data-as-a-Service (DaaS), consulting services, ecosystem partnerships. </a:t>
            </a:r>
          </a:p>
          <a:p>
            <a:pPr marL="457200" indent="-457200"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Freemium &amp; Tiered Access: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Free basic features, paid premium analytics, or custom deployments. </a:t>
            </a:r>
          </a:p>
          <a:p>
            <a:pPr marL="457200" indent="-457200"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Value-Added Streams: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Sponsored research, analytics dashboards, and white-labeled AI tools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Resources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marR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Objective: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Identify critical enablers of AI development, deployment, and sustainability.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Human Resources: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AI engineers, ML researchers, data scientists, UX designers, ethicists, policy experts.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Technical Infrastructure: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- Cloud storage (AWS S3, Azure Blob, GCP Storage) - Compute power (GPUs, TPUs) - CI/CD pipelines and </a:t>
            </a:r>
            <a:r>
              <a:rPr lang="en-US" sz="24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MLOps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tools (Kubeflow, </a:t>
            </a:r>
            <a:r>
              <a:rPr lang="en-US" sz="24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MLflow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Docker, Jenkins)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 Infrastructure: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Data lakes, APIs, annotation tools, labeling teams. 4. </a:t>
            </a: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Organizational Resources: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Research partnerships, legal teams, IP protection units, communication channels.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Financial Resources: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Seed funding, grants, venture capital, strategic partnerships.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28279-AEE9-44EA-75C6-0A26EEB06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Activities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18244-1923-419E-FCF3-A89113EC8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marR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Objective: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Identify the essential technical, operational, and ethical activities required for AI product success.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Model Lifecycle Activities: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Data acquisition, labeling, model training, testing, retraining, deployment.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Product Development Activities: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Feature engineering, UX design, API development, testing, and integration.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Operational Activities: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Monitoring model drift, maintaining data pipelines, ensuring uptime and security.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Governance &amp; Compliance: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Conducting AI audits, bias assessments, and aligning with regulatory frameworks.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Customer-Focused Activities: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Technical support, community building, user feedback loops.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E4E89-E352-935E-967E-638993EAE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8C338-E682-4B46-9632-D57B5813D09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510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28823-7255-0F7E-D9F9-054C11269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Partners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74186-FBEA-6B10-9EBE-AAE5649D1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marR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Objective: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Highlight partnerships that amplify product reach, data access, governance, and scaling capacity.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Technology Partners: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Cloud service providers (AWS, Azure, GCP), API platforms, AI research labs.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 Partners: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Universities, NGOs, government bodies, open-data repositories.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Ethical Oversight Partners: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Regulatory agencies, ethics boards, accessibility councils.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Distribution Partners: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Telecoms, digital hubs, fintech platforms, e-learning systems. 5. </a:t>
            </a: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Strategic Collaborators: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Investors, accelerators, venture studios, media outlets.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5577DE-EBF2-5308-2593-A0922CFF6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8C338-E682-4B46-9632-D57B5813D09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8917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0E291-FA8C-BDC9-625B-648F279A7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Cost Structure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6B6B8-7FC4-8133-7C09-42D89D349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 Costs: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Collection, cleaning, labeling, storage, licensing fees.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Compute &amp; Infrastructure Costs: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GPUs, TPUs, cloud storage, bandwidth, APIs.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Human Resource Costs: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Salaries for AI engineers, data scientists, product managers, and ethicists.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Compliance &amp; Legal Costs: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Data protection, auditing, certification, and intellectual property protection.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Marketing &amp; Distribution Costs: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Community outreach, customer acquisition, events, promotional materials.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Maintenance &amp; Scaling Costs: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Continuous retraining, model optimization, cloud scaling.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39C02-086D-3F74-02AA-049ACC389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8C338-E682-4B46-9632-D57B5813D09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0577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70476-8A6A-D2F2-B766-26BA21CDD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Governance, Ethics &amp; Compliance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5D384-6789-757D-8333-858DCFFF5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marR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Objective: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Institutionalize responsible AI practices to ensure trust, fairness, and accountability.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Governance Model: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Identify responsible teams or boards for oversight.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Fairness &amp; Bias Auditing: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Tools (</a:t>
            </a:r>
            <a:r>
              <a:rPr lang="en-US" sz="24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Fairlearn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AIF360) for demographic parity, bias mitigation.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Transparency Mechanisms: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Documentation (Model Cards, Data Statements, System Cards).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Explainability Tools: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LIME, SHAP, Grad-CAM, Counterfactuals.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Legal &amp; Ethical Frameworks: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GDPR, PDPA (Uganda), UNESCO Recommendation on AI Ethics.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Accountability: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Define roles for audit trails and human-in-the-loop decision validation.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D34AA0-DF58-34FE-43DF-EBD9F931F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8C338-E682-4B46-9632-D57B5813D09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7571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BB42A-88B3-1499-38C0-CBC66859D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Scalability &amp; Sustainability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5ED99-DB27-A0D9-178A-EC1379F16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Scalability Framework: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Microservices, modular pipelines, containerization (Docker, Kubernetes).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Continuous Learning: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Automatic model retraining from new user data (</a:t>
            </a:r>
            <a:r>
              <a:rPr lang="en-US" sz="24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MLOps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feedback loops).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Localization: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Tailoring AI systems to cultural, linguistic, or sectoral contexts.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Financial Sustainability: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Revenue reinvestment, partnerships, grants, impact investment.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Environmental Responsibility: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Energy-efficient model architectures, carbon footprint monitoring.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Resilience: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Backup systems, fault tolerance, and risk management policies.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17D53B-AC56-57F9-C6CE-55B45DA50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8C338-E682-4B46-9632-D57B5813D09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5640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Intellectual Property &amp;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potential intellectual assets (e.g., algorithms, processes).</a:t>
            </a:r>
          </a:p>
          <a:p>
            <a:r>
              <a:t>Is your idea patentable, copyrightable, or protectable?</a:t>
            </a:r>
          </a:p>
          <a:p>
            <a:r>
              <a:t>Tip: Mention novelty and use Venn diagrams or highlights.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Who did what? Clearly assign tasks and roles per member.</a:t>
            </a:r>
          </a:p>
          <a:p>
            <a:r>
              <a:t>Tip: Use a table or pie chart for task distribution.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the floor for questions.</a:t>
            </a:r>
          </a:p>
          <a:p>
            <a:r>
              <a:t>Include contact details if relevant.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090DCB5F-146D-478A-852A-34B16FE9F3A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135</TotalTime>
  <Words>2764</Words>
  <Application>Microsoft Office PowerPoint</Application>
  <PresentationFormat>Widescreen</PresentationFormat>
  <Paragraphs>158</Paragraphs>
  <Slides>19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Aptos</vt:lpstr>
      <vt:lpstr>Arial</vt:lpstr>
      <vt:lpstr>Calibri</vt:lpstr>
      <vt:lpstr>Tw Cen MT</vt:lpstr>
      <vt:lpstr>Tw Cen MT Condensed</vt:lpstr>
      <vt:lpstr>Wingdings</vt:lpstr>
      <vt:lpstr>Wingdings 3</vt:lpstr>
      <vt:lpstr>Integral</vt:lpstr>
      <vt:lpstr>Department of Computer Science, COCIS Makerere University Lecturer: Ggaliwango Marvin</vt:lpstr>
      <vt:lpstr>Deployed - AI Software System Demonstration</vt:lpstr>
      <vt:lpstr>Problem Space &amp; Purpose</vt:lpstr>
      <vt:lpstr>Users, Stakeholders &amp; Ecosystem Actors</vt:lpstr>
      <vt:lpstr>Data Sources &amp; Value</vt:lpstr>
      <vt:lpstr>Solution &amp; AI System Description</vt:lpstr>
      <vt:lpstr>Key Metrics &amp; Evaluation</vt:lpstr>
      <vt:lpstr>Unfair Advantage &amp; Differentiation</vt:lpstr>
      <vt:lpstr>Channels &amp; Distribution</vt:lpstr>
      <vt:lpstr>Revenue Streams</vt:lpstr>
      <vt:lpstr>Key Resources</vt:lpstr>
      <vt:lpstr>Key Activities</vt:lpstr>
      <vt:lpstr>Key Partners</vt:lpstr>
      <vt:lpstr>Cost Structure</vt:lpstr>
      <vt:lpstr>Governance, Ethics &amp; Compliance</vt:lpstr>
      <vt:lpstr>Scalability &amp; Sustainability</vt:lpstr>
      <vt:lpstr>Intellectual Property &amp; Innovation</vt:lpstr>
      <vt:lpstr>Team Contributions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Ggaliwango Marvin</dc:creator>
  <cp:lastModifiedBy>Ggaliwango Ggaliwango</cp:lastModifiedBy>
  <cp:revision>57</cp:revision>
  <dcterms:created xsi:type="dcterms:W3CDTF">2006-08-16T00:00:00Z</dcterms:created>
  <dcterms:modified xsi:type="dcterms:W3CDTF">2025-10-28T03:18:57Z</dcterms:modified>
</cp:coreProperties>
</file>
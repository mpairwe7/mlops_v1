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737" r:id="rId1"/>
  </p:sldMasterIdLst>
  <p:notesMasterIdLst>
    <p:notesMasterId r:id="rId21"/>
  </p:notesMasterIdLst>
  <p:sldIdLst>
    <p:sldId id="274" r:id="rId2"/>
    <p:sldId id="268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90" r:id="rId13"/>
    <p:sldId id="291" r:id="rId14"/>
    <p:sldId id="292" r:id="rId15"/>
    <p:sldId id="293" r:id="rId16"/>
    <p:sldId id="294" r:id="rId17"/>
    <p:sldId id="266" r:id="rId18"/>
    <p:sldId id="285" r:id="rId19"/>
    <p:sldId id="289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ifX52E/O2vMdvfztXTaB/Ggd8je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7094" autoAdjust="0"/>
  </p:normalViewPr>
  <p:slideViewPr>
    <p:cSldViewPr snapToGrid="0">
      <p:cViewPr varScale="1">
        <p:scale>
          <a:sx n="42" d="100"/>
          <a:sy n="42" d="100"/>
        </p:scale>
        <p:origin x="1580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LID4096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9115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0057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087706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77288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37171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38888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86346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0037316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036363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6280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68249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24861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79167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991447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/>
              <a:t>1</a:t>
            </a:r>
            <a:fld id="{00000000-1234-1234-1234-123412341234}" type="slidenum">
              <a:rPr lang="en-US" smtClean="0"/>
              <a:pPr/>
              <a:t>‹#›</a:t>
            </a:fld>
            <a:endParaRPr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3364D16-397A-A16E-95C8-EFCBAB66D86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Makerere University - data.org">
            <a:extLst>
              <a:ext uri="{FF2B5EF4-FFF2-40B4-BE49-F238E27FC236}">
                <a16:creationId xmlns:a16="http://schemas.microsoft.com/office/drawing/2014/main" id="{F80BC8B0-28EA-762F-0D7A-5B6334F51B2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7230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4F89D84E-2BC7-4D37-DB09-CC9EC19BEC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6900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LID4096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B178440F-7742-4EF6-4D36-FA77822320E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Makerere University - data.org">
            <a:extLst>
              <a:ext uri="{FF2B5EF4-FFF2-40B4-BE49-F238E27FC236}">
                <a16:creationId xmlns:a16="http://schemas.microsoft.com/office/drawing/2014/main" id="{DFFA85FC-D464-4A1E-D99E-06ECBF3D5E8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700430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8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DB6798A6-D4E5-DDF7-CD1E-636FF70362D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8640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2">
                    <a:lumMod val="75000"/>
                  </a:schemeClr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9320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89320" y="2967788"/>
            <a:ext cx="4754880" cy="3341572"/>
          </a:xfrm>
        </p:spPr>
        <p:txBody>
          <a:bodyPr lIns="45720" rIns="4572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2D8642E-3B24-38FE-1A15-7D064D01102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2410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AAEE5B36-4AC6-34D0-3EE3-75ECA02E60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124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5DFE70A8-8DEC-E1E0-0F80-3CC5E4283A6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9258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8D6953CF-067D-E709-05F8-F0DD3D17A86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65677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2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F0389045-4EC2-D8FE-3AD1-AB97C511A5F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5766643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3D776D8-4C08-7E05-5A99-451839D024E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94775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0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EAAD6571-8582-73A0-E399-4E24B7F44E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2283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1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8" y="6470704"/>
            <a:ext cx="2154142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C9FBD9A6-F4F7-4C81-8C3B-C6430A865157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8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4" y="6470704"/>
            <a:ext cx="973666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Makerere University - data.org">
            <a:extLst>
              <a:ext uri="{FF2B5EF4-FFF2-40B4-BE49-F238E27FC236}">
                <a16:creationId xmlns:a16="http://schemas.microsoft.com/office/drawing/2014/main" id="{DE1A894A-8052-B57C-2DF3-1C78D4ABAFB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69756" y="10553"/>
            <a:ext cx="704660" cy="600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Makerere University College of Computing &amp; Information Sciences (CoCIS)">
            <a:extLst>
              <a:ext uri="{FF2B5EF4-FFF2-40B4-BE49-F238E27FC236}">
                <a16:creationId xmlns:a16="http://schemas.microsoft.com/office/drawing/2014/main" id="{67475E0E-31FE-D872-A2E6-0821144EF9C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795" y="-12360"/>
            <a:ext cx="1793633" cy="358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9829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0000"/>
              <a:lumOff val="10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2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2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mamot.kabirajohnson@students.mak.ac.ug" TargetMode="External"/><Relationship Id="rId2" Type="http://schemas.openxmlformats.org/officeDocument/2006/relationships/hyperlink" Target="mailto:mpairwe.lauben@students.mak.ac.ug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kayiwa.rahim@students.mak.ac.ug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28000" y="5081436"/>
            <a:ext cx="3992465" cy="1463040"/>
          </a:xfrm>
        </p:spPr>
        <p:txBody>
          <a:bodyPr>
            <a:normAutofit fontScale="90000"/>
          </a:bodyPr>
          <a:lstStyle/>
          <a:p>
            <a:r>
              <a:rPr lang="en-US" sz="2800" dirty="0"/>
              <a:t>Department of Computer Science, COCIS</a:t>
            </a:r>
            <a:br>
              <a:rPr lang="en-US" sz="2800" dirty="0"/>
            </a:br>
            <a:r>
              <a:rPr lang="en-US" sz="2800" dirty="0"/>
              <a:t>Makerere University</a:t>
            </a:r>
            <a:br>
              <a:rPr lang="en-US" sz="2800" dirty="0"/>
            </a:br>
            <a:r>
              <a:rPr lang="en-US" sz="2800" dirty="0"/>
              <a:t>Lecturer: Ggaliwango Marvin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199" y="5016121"/>
            <a:ext cx="7847045" cy="1463040"/>
          </a:xfrm>
        </p:spPr>
        <p:txBody>
          <a:bodyPr>
            <a:normAutofit fontScale="62500" lnSpcReduction="20000"/>
          </a:bodyPr>
          <a:lstStyle/>
          <a:p>
            <a:r>
              <a:rPr lang="en-US" sz="2000" dirty="0"/>
              <a:t>Group CODE: SW-AI-52</a:t>
            </a:r>
          </a:p>
          <a:p>
            <a:pPr marL="343080" indent="-343080" defTabSz="457200">
              <a:buClr>
                <a:srgbClr val="2E2B21"/>
              </a:buClr>
              <a:buFont typeface="Calibri"/>
              <a:buAutoNum type="arabicPeriod"/>
            </a:pPr>
            <a:r>
              <a:rPr lang="en-US" sz="2000" dirty="0"/>
              <a:t>Mpairwe Lauben, 2200721345, 22/U/21345, </a:t>
            </a:r>
            <a:r>
              <a:rPr lang="en-US" sz="2000" dirty="0">
                <a:hlinkClick r:id="rId2"/>
              </a:rPr>
              <a:t>mpairwe.lauben@students.mak.ac.ug</a:t>
            </a:r>
            <a:endParaRPr lang="en-US" sz="2000" dirty="0"/>
          </a:p>
          <a:p>
            <a:pPr marL="343080" indent="-343080" defTabSz="457200">
              <a:buClr>
                <a:srgbClr val="2E2B21"/>
              </a:buClr>
              <a:buFont typeface="Calibri"/>
              <a:buAutoNum type="arabicPeriod"/>
            </a:pPr>
            <a:r>
              <a:rPr lang="en-US" sz="2000" dirty="0"/>
              <a:t>Makerere University</a:t>
            </a:r>
          </a:p>
          <a:p>
            <a:pPr marL="343080" indent="-343080" defTabSz="457200">
              <a:buClr>
                <a:srgbClr val="2E2B21"/>
              </a:buClr>
              <a:buAutoNum type="arabicPeriod"/>
            </a:pPr>
            <a:r>
              <a:rPr lang="en-US" sz="2000" dirty="0"/>
              <a:t>Makmot Kabira Johnson, 2370026794, 23/U/26794/EVE, </a:t>
            </a:r>
            <a:r>
              <a:rPr lang="en-US" sz="2000" dirty="0">
                <a:hlinkClick r:id="rId3"/>
              </a:rPr>
              <a:t>mamot.kabirajohnson@students.mak.ac.ug</a:t>
            </a:r>
            <a:endParaRPr lang="en-US" sz="2000" dirty="0"/>
          </a:p>
          <a:p>
            <a:pPr marL="343080" indent="-343080" defTabSz="457200">
              <a:buClr>
                <a:srgbClr val="2E2B21"/>
              </a:buClr>
              <a:buAutoNum type="arabicPeriod"/>
            </a:pPr>
            <a:r>
              <a:rPr lang="en-US" sz="2000" dirty="0"/>
              <a:t>Makerere University</a:t>
            </a:r>
          </a:p>
          <a:p>
            <a:pPr marL="343080" indent="-343080" defTabSz="457200">
              <a:buClr>
                <a:srgbClr val="2E2B21"/>
              </a:buClr>
              <a:buFont typeface="Calibri"/>
              <a:buAutoNum type="arabicPeriod"/>
            </a:pPr>
            <a:r>
              <a:rPr lang="en-US" sz="2000" dirty="0"/>
              <a:t>Kayiwa Rahim, 2300709499, 23/U/09499/EVE,  </a:t>
            </a:r>
            <a:r>
              <a:rPr lang="en-US" sz="2000" dirty="0">
                <a:hlinkClick r:id="rId4"/>
              </a:rPr>
              <a:t>kayiwa.rahim@students.mak.ac.ug</a:t>
            </a:r>
            <a:endParaRPr lang="en-US" sz="2000" dirty="0"/>
          </a:p>
          <a:p>
            <a:pPr marL="343080" indent="-343080" defTabSz="457200">
              <a:buClr>
                <a:srgbClr val="2E2B21"/>
              </a:buClr>
              <a:buFont typeface="Calibri"/>
              <a:buAutoNum type="arabicPeriod"/>
            </a:pPr>
            <a:r>
              <a:rPr lang="en-US" sz="2000" dirty="0"/>
              <a:t>Makerere university</a:t>
            </a:r>
          </a:p>
          <a:p>
            <a:endParaRPr dirty="0"/>
          </a:p>
        </p:txBody>
      </p:sp>
      <p:sp>
        <p:nvSpPr>
          <p:cNvPr id="5" name="Google Shape;121;p5">
            <a:extLst>
              <a:ext uri="{FF2B5EF4-FFF2-40B4-BE49-F238E27FC236}">
                <a16:creationId xmlns:a16="http://schemas.microsoft.com/office/drawing/2014/main" id="{4E878665-B1AB-FD8C-60BD-A80BFE938BBB}"/>
              </a:ext>
            </a:extLst>
          </p:cNvPr>
          <p:cNvSpPr txBox="1">
            <a:spLocks/>
          </p:cNvSpPr>
          <p:nvPr/>
        </p:nvSpPr>
        <p:spPr>
          <a:xfrm>
            <a:off x="643812" y="3429000"/>
            <a:ext cx="10730204" cy="605935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00000"/>
              <a:buFont typeface="Tw Cen MT" panose="020B0602020104020603" pitchFamily="34" charset="0"/>
              <a:buNone/>
              <a:defRPr sz="1800" kern="120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2"/>
              </a:buClr>
              <a:buFont typeface="Wingdings 3" pitchFamily="18" charset="2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/>
            <a:r>
              <a:rPr lang="en-US" sz="2400" dirty="0">
                <a:latin typeface="Aptos" panose="020B0004020202020204" pitchFamily="34" charset="0"/>
              </a:rPr>
              <a:t>Target Customers : </a:t>
            </a:r>
            <a:r>
              <a:rPr lang="en-US" sz="2400" dirty="0" err="1">
                <a:latin typeface="Aptos" panose="020B0004020202020204" pitchFamily="34" charset="0"/>
              </a:rPr>
              <a:t>Ophamatologist</a:t>
            </a:r>
            <a:r>
              <a:rPr lang="en-US" sz="24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6" name="Google Shape;95;p1">
            <a:extLst>
              <a:ext uri="{FF2B5EF4-FFF2-40B4-BE49-F238E27FC236}">
                <a16:creationId xmlns:a16="http://schemas.microsoft.com/office/drawing/2014/main" id="{D45BDEC5-3242-EBA4-7E1E-6BAD9B148C53}"/>
              </a:ext>
            </a:extLst>
          </p:cNvPr>
          <p:cNvSpPr/>
          <p:nvPr/>
        </p:nvSpPr>
        <p:spPr>
          <a:xfrm>
            <a:off x="978159" y="1487956"/>
            <a:ext cx="10235681" cy="1938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en-US" sz="4000" b="1" i="1" dirty="0">
                <a:solidFill>
                  <a:schemeClr val="dk1"/>
                </a:solidFill>
              </a:rPr>
              <a:t>Large Vision Models for Multi-Disease Retinal Screening in Ugandan Healthcare</a:t>
            </a:r>
          </a:p>
          <a:p>
            <a:pPr algn="ctr"/>
            <a:r>
              <a:rPr lang="en-US" sz="4000" b="1" dirty="0">
                <a:solidFill>
                  <a:schemeClr val="dk1"/>
                </a:solidFill>
              </a:rPr>
              <a:t>Group CODE: SW-AI-52</a:t>
            </a:r>
            <a:endParaRPr lang="en-US" sz="4000" dirty="0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Deployed - AI Software System Demonstration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</a:t>
            </a:r>
            <a:r>
              <a:rPr dirty="0"/>
              <a:t> a short demo video.</a:t>
            </a:r>
          </a:p>
          <a:p>
            <a:r>
              <a:rPr dirty="0"/>
              <a:t>Tip: Keep it under 2 minutes. Test it before the presentation.</a:t>
            </a:r>
            <a:endParaRPr lang="en-US" dirty="0"/>
          </a:p>
          <a:p>
            <a:r>
              <a:rPr lang="en-US" dirty="0"/>
              <a:t>You will demonstrate the deployed System LIVE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Space &amp; Purpose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High prevalence of diseases like diabetic retinopathy, glaucoma, and hypertensive retinopathy and more other eye diseases.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is the core problem?</a:t>
            </a:r>
            <a:r>
              <a:rPr lang="en-US" sz="2400" dirty="0">
                <a:solidFill>
                  <a:srgbClr val="000000"/>
                </a:solidFill>
                <a:latin typeface="Times New Roman"/>
                <a:ea typeface="Instrument Sans Semi Bold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Limited access to ophthalmologists and specialized screening equipment, especially in rural areas.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Who experiences it most?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Patients especially in rural areas.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Why is AI essential here?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It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provides content based reasoning and decision of a certain eye disease and lowers on the retinal scan diagnosis time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What’s the measurable impact?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Reduced time spent on each patient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Users, Stakeholders &amp; Ecosystem Actors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Primary Users: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phthalmologist, people with eyes diseases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Secondary Stakeholders: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Hospitals,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Ministry of Health,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  <a:sym typeface="Calibri"/>
              </a:rPr>
              <a:t>NGOs (e.g., WHO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, FHI360) and societal groups indirectly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affected. </a:t>
            </a:r>
          </a:p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Ecosystem Roles: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suppliers, API consumers, algorithm designers, platform maintainers. </a:t>
            </a:r>
          </a:p>
          <a:p>
            <a:pPr marL="251460" marR="0" indent="-342900">
              <a:spcBef>
                <a:spcPts val="900"/>
              </a:spcBef>
              <a:spcAft>
                <a:spcPts val="900"/>
              </a:spcAft>
              <a:buFont typeface="Wingdings" panose="05000000000000000000" pitchFamily="2" charset="2"/>
              <a:buChar char="ü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Governance Entities: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  <a:sym typeface="Calibri"/>
              </a:rPr>
              <a:t>Oversight by NITA-U, Ministry of gender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and labour, Ministry of ICT and National Guidance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 Sources &amp; Value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Retinal Fundus Multi-Disease Image Dataset (RFMiD)</a:t>
            </a:r>
          </a:p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A dataset for Multi-Disease Detection Research</a:t>
            </a:r>
          </a:p>
          <a:p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It consists of Original color fundus images (3200 images)</a:t>
            </a:r>
          </a:p>
          <a:p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The diseases having more than 10 images belong to an independent class and all other disease</a:t>
            </a:r>
          </a:p>
          <a:p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constitutes 28 classes for disease classification. </a:t>
            </a:r>
            <a:endParaRPr lang="en-US" sz="2400" b="1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Tw Cen MT" panose="020B0602020104020603" pitchFamily="34" charset="0"/>
              <a:buAutoNum type="arabicPeriod"/>
            </a:pPr>
            <a:r>
              <a:rPr lang="en-US" sz="24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Sources: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image.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Font typeface="Tw Cen MT" panose="020B0602020104020603" pitchFamily="34" charset="0"/>
              <a:buAutoNum type="arabicPeriod"/>
            </a:pPr>
            <a:r>
              <a:rPr lang="en-US" sz="2400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Types: 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Open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dataset from Retinal Fundus Multi-disease Image Dataset (</a:t>
            </a:r>
            <a:r>
              <a:rPr lang="en-US" sz="2400" dirty="0" err="1">
                <a:latin typeface="Aptos" panose="020B0004020202020204" pitchFamily="34" charset="0"/>
                <a:cs typeface="Times New Roman" panose="02020603050405020304" pitchFamily="18" charset="0"/>
              </a:rPr>
              <a:t>RFMiD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) from IEEE data port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Processing Pipeline: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Collection → Cleaning → Annotation → Validation → Storage.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 &amp; Legal Framework: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Compliance with national data protection acts, informed consent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 Mechanism: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The images use during training provide the back bone for the knowledge base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Solution &amp; AI System Description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Describe the AI-driven solution, its architecture, core logic, and technical distinctiveness.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AI methods or algorithms are used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(e.g., Graph CLIP, Visual Language GNN, Scene Graph Transformer, ViGNN)?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are the model inputs and outputs? </a:t>
            </a:r>
          </a:p>
          <a:p>
            <a:pPr lvl="6">
              <a:spcBef>
                <a:spcPts val="900"/>
              </a:spcBef>
              <a:spcAft>
                <a:spcPts val="900"/>
              </a:spcAft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Inputs are retinal image scans</a:t>
            </a:r>
          </a:p>
          <a:p>
            <a:pPr lvl="6">
              <a:spcBef>
                <a:spcPts val="900"/>
              </a:spcBef>
              <a:spcAft>
                <a:spcPts val="900"/>
              </a:spcAft>
            </a:pPr>
            <a:r>
              <a:rPr lang="en-US" sz="16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Outputs are the percentage prediction of the disease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the AI generate decisions or insights?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it integrate with user workflows, existing systems, or APIs?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responsible AI mechanisms are embedded (e.g., explainability, bias control)?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Metrics &amp; Evaluation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Define how success is measured technically, ethically, and commercially.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Technical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Accuracy, F1-score, latency, throughput, uptime, and error rate.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User-Centric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Adoption rate, session duration, user satisfaction (CSAT), Net Promoter Score (NPS).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Fairness (e.g., demographic parity), interpretability (e.g., SHAP fidelity), bias mitigation, transparency score.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Business Metrics: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Customer acquisition cost (CAC), lifetime value (LTV), churn rate, revenue growth, return on AI investment (ROAI).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Unfair Advantage &amp; Differentiation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your unique competitive edge and how it creates defensibility.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do you have that others can’t easily copy (e.g., proprietary datasets, IP, partnerships)?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What learning or feedback loops strengthen your product over time?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How does your AI model or infrastructure sustain long-term differentiation?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Channels &amp; Distribution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The medical personnel has a computer where he upload all the retinal scan images, we can also attach a external eye specific camera that accurately captures the retinal scan and uploads them directly into the system to get the results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Acquisition Channels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We have partnered with the MIIC Lab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akerere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Delivery Channels: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 have a free web interface that can be accessed by the doctors , with a free API end point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Partnerships: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Collaboration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MIIC Lab Makerere 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Retention Tactics: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Continuous updates, and more model training to the ever increasing retinal scans from around the world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Revenue Streams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Outline how your AI system generates income and sustains operations.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Direct Revenue Models: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Subscriptions (SaaS), licensing fees, pay-per-use APIs.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Indirect Revenue Models: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Data-as-a-Service (DaaS), consulting services, ecosystem partnerships. </a:t>
            </a:r>
          </a:p>
          <a:p>
            <a:pPr marL="457200" indent="-457200"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Value-Added Streams: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Direct one time sell off basically to governments in development countries. 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Resources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critical enablers of AI development, deployment, and sustainability.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 Resources: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AI engineers, ML researchers, data scientists</a:t>
            </a:r>
            <a:r>
              <a:rPr lang="en-US" sz="2400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, Medical personnels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Technical Infrastructure: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- hugging face - Compute power (GPUs, TPUs) pipelines and </a:t>
            </a:r>
            <a:r>
              <a:rPr lang="en-US" sz="24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MLOps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tools (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CI/CD  </a:t>
            </a:r>
            <a:r>
              <a:rPr lang="en-US" sz="2400" dirty="0" err="1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github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flows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) </a:t>
            </a:r>
          </a:p>
          <a:p>
            <a:pPr marL="365760" indent="-457200">
              <a:spcBef>
                <a:spcPts val="900"/>
              </a:spcBef>
              <a:spcAft>
                <a:spcPts val="900"/>
              </a:spcAft>
              <a:buFont typeface="Tw Cen MT" panose="020B0602020104020603" pitchFamily="34" charset="0"/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Infrastructure: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Data Retinal Fundus Multi-disease Image Dataset (</a:t>
            </a:r>
            <a:r>
              <a:rPr lang="en-US" sz="2400" dirty="0" err="1">
                <a:latin typeface="Aptos" panose="020B0004020202020204" pitchFamily="34" charset="0"/>
                <a:cs typeface="Times New Roman" panose="02020603050405020304" pitchFamily="18" charset="0"/>
              </a:rPr>
              <a:t>RFMiD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Organizational Resources: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cs typeface="Times New Roman" panose="02020603050405020304" pitchFamily="18" charset="0"/>
                <a:sym typeface="Calibri"/>
              </a:rPr>
              <a:t>Institutional collaborations (Makerere University Innovation and Incubation Lab</a:t>
            </a:r>
            <a:endParaRPr lang="en-US" sz="24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Financial Resources: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Seed funding, grants, venture capital, strategic partnerships.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28279-AEE9-44EA-75C6-0A26EEB0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Activities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18244-1923-419E-FCF3-A89113EC83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Identify the essential technical, operational, and ethical activities required for AI product success.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Model Lifecycle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acquisition, labeling, model training, testing, retraining, deployment.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Product Development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Feature engineering, UX design, API development, testing, and integration.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Operational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Monitoring model drift, maintaining data pipelines, ensuring uptime and security.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Governance &amp; Compliance: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Conducting AI audits, bias assessments, and aligning with regulatory frameworks.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Customer-Focused Activities: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Technical support, community building, user feedback loops.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E4E89-E352-935E-967E-638993EAE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510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E28823-7255-0F7E-D9F9-054C11269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Partners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74186-FBEA-6B10-9EBE-AAE5649D1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Highlight partnerships that amplify product reach, data access, governance, and scaling capacity.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Technology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Cloud service providers (hugging face, Azure, GCP), API platforms, AI research labs.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Universities, NGOs, government bodies, open-data repositories.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Ethical Oversight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Regulatory agencies, ethics boards, accessibility councils.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Distribution Partners: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Telecoms, digital hubs, fintech platforms, e-learning systems. 5. </a:t>
            </a: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Strategic Collaborators: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Investors, accelerators, venture studios, media outlets.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5577DE-EBF2-5308-2593-A0922CFF6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891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0E291-FA8C-BDC9-625B-648F279A7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Cost Structure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6B6B8-7FC4-8133-7C09-42D89D349F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Data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UGX200M annually for labeled datasets and local collection from various regions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Compute &amp; Infrastructure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GPUs, TPUs, cloud storage, bandwidth, APIs.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Human Resource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Salaries for AI engineers, data scientists, product managers, and ethicists.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Compliance &amp; Legal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Data protection, auditing, certification, and intellectual property protection.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Marketing &amp; Distribution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Community outreach, customer acquisition, events, promotional materials.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Maintenance &amp; Scaling Costs: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Continuous retraining, model optimization, cloud scaling.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39C02-086D-3F74-02AA-049ACC38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0577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70476-8A6A-D2F2-B766-26BA21CDD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Governance, Ethics &amp; Compliance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85D384-6789-757D-8333-858DCFFF52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marR="0">
              <a:spcBef>
                <a:spcPts val="900"/>
              </a:spcBef>
              <a:spcAft>
                <a:spcPts val="900"/>
              </a:spcAft>
              <a:buNone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Objective: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Institutionalize responsible AI practices to ensure trust, fairness, and accountability.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Governance Model: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Over sight by the MIIC lab Makerere and Dr Ggaliwango to meet the intended expectations.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Fairness &amp; Bias Auditing: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Regular model bench marking and comparisons with other models are carried out.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Transparency Mechanisms: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We have an open model on hugging face that can be interacted with through an API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Explainability Tools: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LIME, SHAP, Grad-CAM, Counterfactuals.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Legal &amp; Ethical Frameworks: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GDPR, PDPA (Uganda), UNESCO Recommendation on AI Ethics.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Accountability: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All the queries and call made to the model or end point are logged and stored for reference if needed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34AA0-DF58-34FE-43DF-EBD9F931F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57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BB42A-88B3-1499-38C0-CBC66859D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Scalability &amp; Sustainability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5ED99-DB27-A0D9-178A-EC1379F166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Scalability Framework: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Microservices, modular pipelines, containerization (Docker, Kubernetes).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Continuous Learning: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Models updated quarterly with new captured retinal image scans from newer patients</a:t>
            </a:r>
            <a:endParaRPr lang="en-US" sz="24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Localization: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Currently it only support English Only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Financial Sustainability: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Revenue reinvestment, partnerships, grants, impact investment.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Environmental Responsibility: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Energy-efficient model architectures, carbon footprint monitoring. </a:t>
            </a:r>
          </a:p>
          <a:p>
            <a:pPr marL="365760" marR="0" indent="-457200">
              <a:spcBef>
                <a:spcPts val="900"/>
              </a:spcBef>
              <a:spcAft>
                <a:spcPts val="900"/>
              </a:spcAft>
              <a:buAutoNum type="arabicPeriod"/>
            </a:pPr>
            <a:r>
              <a:rPr lang="en-US" sz="2400" b="1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Resilience:</a:t>
            </a:r>
            <a:r>
              <a:rPr lang="en-US" sz="24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Backup systems on a backup server to present data and history loss.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7D53B-AC56-57F9-C6CE-55B45DA50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8C338-E682-4B46-9632-D57B5813D090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5640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Intellectual Property &amp;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potential intellectual assets (e.g., algorithms, processes).</a:t>
            </a:r>
          </a:p>
          <a:p>
            <a:r>
              <a:rPr dirty="0"/>
              <a:t>Is your idea patentable, copyrightable, or protectable</a:t>
            </a:r>
            <a:r>
              <a:rPr lang="en-US" dirty="0"/>
              <a:t>?</a:t>
            </a:r>
          </a:p>
          <a:p>
            <a:pPr marL="0" indent="0">
              <a:buNone/>
            </a:pPr>
            <a:r>
              <a:rPr lang="en-US" dirty="0"/>
              <a:t> The idea is copyrightable because it’s an innovation which increases and eases the operations of medical people and the whole industry at large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Team Contributions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4128" y="1706880"/>
            <a:ext cx="9720072" cy="4602480"/>
          </a:xfrm>
        </p:spPr>
        <p:txBody>
          <a:bodyPr>
            <a:normAutofit/>
          </a:bodyPr>
          <a:lstStyle/>
          <a:p>
            <a:r>
              <a:rPr lang="en-US" sz="2800" dirty="0"/>
              <a:t>Task distribution</a:t>
            </a:r>
            <a:endParaRPr sz="28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10E47C1-5A58-94E5-59E1-5F8DD4E354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3640398"/>
              </p:ext>
            </p:extLst>
          </p:nvPr>
        </p:nvGraphicFramePr>
        <p:xfrm>
          <a:off x="1024128" y="2545080"/>
          <a:ext cx="9979152" cy="286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33884">
                  <a:extLst>
                    <a:ext uri="{9D8B030D-6E8A-4147-A177-3AD203B41FA5}">
                      <a16:colId xmlns:a16="http://schemas.microsoft.com/office/drawing/2014/main" val="4141339934"/>
                    </a:ext>
                  </a:extLst>
                </a:gridCol>
                <a:gridCol w="6545268">
                  <a:extLst>
                    <a:ext uri="{9D8B030D-6E8A-4147-A177-3AD203B41FA5}">
                      <a16:colId xmlns:a16="http://schemas.microsoft.com/office/drawing/2014/main" val="3520850699"/>
                    </a:ext>
                  </a:extLst>
                </a:gridCol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Name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Task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6126257"/>
                  </a:ext>
                </a:extLst>
              </a:tr>
              <a:tr h="775107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Mpairwe Lauben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Data cleaning and exploratory data </a:t>
                      </a:r>
                      <a:r>
                        <a:rPr lang="en-US" sz="2400" dirty="0" err="1">
                          <a:latin typeface="Aptos" panose="020B0004020202020204" pitchFamily="34" charset="0"/>
                        </a:rPr>
                        <a:t>analyse</a:t>
                      </a:r>
                      <a:r>
                        <a:rPr lang="en-US" sz="2400" dirty="0">
                          <a:latin typeface="Aptos" panose="020B0004020202020204" pitchFamily="34" charset="0"/>
                        </a:rPr>
                        <a:t>, model </a:t>
                      </a:r>
                      <a:r>
                        <a:rPr lang="en-US" sz="2400" dirty="0" err="1">
                          <a:latin typeface="Aptos" panose="020B0004020202020204" pitchFamily="34" charset="0"/>
                        </a:rPr>
                        <a:t>traning</a:t>
                      </a:r>
                      <a:r>
                        <a:rPr lang="en-US" sz="2400" dirty="0">
                          <a:latin typeface="Aptos" panose="020B0004020202020204" pitchFamily="34" charset="0"/>
                        </a:rPr>
                        <a:t> and testing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259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Makmot Kabira Johnson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Data set acquisition and model </a:t>
                      </a:r>
                      <a:r>
                        <a:rPr lang="en-US" sz="2400" dirty="0" err="1">
                          <a:latin typeface="Aptos" panose="020B0004020202020204" pitchFamily="34" charset="0"/>
                        </a:rPr>
                        <a:t>visualisation</a:t>
                      </a:r>
                      <a:r>
                        <a:rPr lang="en-US" sz="2400" dirty="0">
                          <a:latin typeface="Aptos" panose="020B0004020202020204" pitchFamily="34" charset="0"/>
                        </a:rPr>
                        <a:t> 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43041435"/>
                  </a:ext>
                </a:extLst>
              </a:tr>
              <a:tr h="730768"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Kayiwa Rahim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latin typeface="Aptos" panose="020B0004020202020204" pitchFamily="34" charset="0"/>
                        </a:rPr>
                        <a:t>Model deployment and </a:t>
                      </a:r>
                      <a:r>
                        <a:rPr lang="en-US" sz="2400" dirty="0" err="1">
                          <a:latin typeface="Aptos" panose="020B0004020202020204" pitchFamily="34" charset="0"/>
                        </a:rPr>
                        <a:t>evalution</a:t>
                      </a:r>
                      <a:endParaRPr lang="LID4096" sz="2400" dirty="0">
                        <a:latin typeface="Aptos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34364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Thank 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>
                <a:latin typeface="Aptos" panose="020B0004020202020204" pitchFamily="34" charset="0"/>
              </a:rPr>
              <a:t>Open the floor for questions.</a:t>
            </a:r>
          </a:p>
          <a:p>
            <a:r>
              <a:rPr dirty="0">
                <a:latin typeface="Aptos" panose="020B0004020202020204" pitchFamily="34" charset="0"/>
              </a:rPr>
              <a:t>Include contact details if relevant.</a:t>
            </a:r>
            <a:endParaRPr lang="en-US" dirty="0">
              <a:latin typeface="Aptos" panose="020B0004020202020204" pitchFamily="34" charset="0"/>
            </a:endParaRPr>
          </a:p>
          <a:p>
            <a:pPr marL="343080" indent="-343080" defTabSz="457200">
              <a:buClr>
                <a:srgbClr val="2E2B21"/>
              </a:buClr>
              <a:buFont typeface="Calibri"/>
              <a:buAutoNum type="arabicPeriod"/>
            </a:pPr>
            <a:r>
              <a:rPr lang="en-US" sz="2400" dirty="0">
                <a:latin typeface="Aptos" panose="020B0004020202020204" pitchFamily="34" charset="0"/>
              </a:rPr>
              <a:t>Mpairwe Lauben, mpairwe.lauben@students.mak.ac.ug</a:t>
            </a:r>
          </a:p>
          <a:p>
            <a:pPr marL="343080" indent="-343080" defTabSz="457200">
              <a:buClr>
                <a:srgbClr val="2E2B21"/>
              </a:buClr>
              <a:buAutoNum type="arabicPeriod"/>
            </a:pPr>
            <a:r>
              <a:rPr lang="en-US" sz="2400" dirty="0">
                <a:latin typeface="Aptos" panose="020B0004020202020204" pitchFamily="34" charset="0"/>
              </a:rPr>
              <a:t>Makmot Kabira Johnson, mamot.kabirajohnson@students.mak.ac.ug</a:t>
            </a:r>
          </a:p>
          <a:p>
            <a:pPr marL="343080" indent="-343080" defTabSz="457200">
              <a:buClr>
                <a:srgbClr val="2E2B21"/>
              </a:buClr>
              <a:buFont typeface="Calibri"/>
              <a:buAutoNum type="arabicPeriod"/>
            </a:pPr>
            <a:r>
              <a:rPr lang="en-US" sz="2400" dirty="0">
                <a:latin typeface="Aptos" panose="020B0004020202020204" pitchFamily="34" charset="0"/>
              </a:rPr>
              <a:t>Kayiwa Rahim, kayiwa.rahim@students.mak.ac.ug</a:t>
            </a:r>
          </a:p>
          <a:p>
            <a:endParaRPr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rgbClr val="2E2B21"/>
      </a:dk1>
      <a:lt1>
        <a:srgbClr val="FFFFFF"/>
      </a:lt1>
      <a:dk2>
        <a:srgbClr val="605B4F"/>
      </a:dk2>
      <a:lt2>
        <a:srgbClr val="D8D6BE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8000"/>
              </a:schemeClr>
              <a:schemeClr val="phClr">
                <a:shade val="89000"/>
                <a:satMod val="145000"/>
              </a:schemeClr>
            </a:duotone>
          </a:blip>
          <a:tile tx="0" ty="0" sx="32000" sy="32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8000"/>
              </a:schemeClr>
              <a:schemeClr val="phClr">
                <a:shade val="95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090DCB5F-146D-478A-852A-34B16FE9F3A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1211</TotalTime>
  <Words>1630</Words>
  <Application>Microsoft Office PowerPoint</Application>
  <PresentationFormat>Widescreen</PresentationFormat>
  <Paragraphs>149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8" baseType="lpstr">
      <vt:lpstr>Aptos</vt:lpstr>
      <vt:lpstr>Arial</vt:lpstr>
      <vt:lpstr>Calibri</vt:lpstr>
      <vt:lpstr>Times New Roman</vt:lpstr>
      <vt:lpstr>Tw Cen MT</vt:lpstr>
      <vt:lpstr>Tw Cen MT Condensed</vt:lpstr>
      <vt:lpstr>Wingdings</vt:lpstr>
      <vt:lpstr>Wingdings 3</vt:lpstr>
      <vt:lpstr>Integral</vt:lpstr>
      <vt:lpstr>Department of Computer Science, COCIS Makerere University Lecturer: Ggaliwango Marvin</vt:lpstr>
      <vt:lpstr>Deployed - AI Software System Demonstration</vt:lpstr>
      <vt:lpstr>Problem Space &amp; Purpose</vt:lpstr>
      <vt:lpstr>Users, Stakeholders &amp; Ecosystem Actors</vt:lpstr>
      <vt:lpstr>Data Sources &amp; Value</vt:lpstr>
      <vt:lpstr>Solution &amp; AI System Description</vt:lpstr>
      <vt:lpstr>Key Metrics &amp; Evaluation</vt:lpstr>
      <vt:lpstr>Unfair Advantage &amp; Differentiation</vt:lpstr>
      <vt:lpstr>Channels &amp; Distribution</vt:lpstr>
      <vt:lpstr>Revenue Streams</vt:lpstr>
      <vt:lpstr>Key Resources</vt:lpstr>
      <vt:lpstr>Key Activities</vt:lpstr>
      <vt:lpstr>Key Partners</vt:lpstr>
      <vt:lpstr>Cost Structure</vt:lpstr>
      <vt:lpstr>Governance, Ethics &amp; Compliance</vt:lpstr>
      <vt:lpstr>Scalability &amp; Sustainability</vt:lpstr>
      <vt:lpstr>Intellectual Property &amp; Innovation</vt:lpstr>
      <vt:lpstr>Team Contributions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Kayiwa Rahim</dc:creator>
  <cp:lastModifiedBy>Kayiwa Rahim</cp:lastModifiedBy>
  <cp:revision>111</cp:revision>
  <dcterms:created xsi:type="dcterms:W3CDTF">2006-08-16T00:00:00Z</dcterms:created>
  <dcterms:modified xsi:type="dcterms:W3CDTF">2025-10-30T14:53:30Z</dcterms:modified>
</cp:coreProperties>
</file>
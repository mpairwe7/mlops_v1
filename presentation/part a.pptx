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4" r:id="rId10"/>
    <p:sldId id="264" r:id="rId11"/>
    <p:sldId id="282" r:id="rId12"/>
    <p:sldId id="283" r:id="rId13"/>
    <p:sldId id="285" r:id="rId14"/>
    <p:sldId id="286" r:id="rId15"/>
    <p:sldId id="287" r:id="rId16"/>
    <p:sldId id="289" r:id="rId17"/>
    <p:sldId id="293" r:id="rId18"/>
    <p:sldId id="265" r:id="rId19"/>
    <p:sldId id="267" r:id="rId20"/>
    <p:sldId id="268" r:id="rId21"/>
    <p:sldId id="284" r:id="rId22"/>
    <p:sldId id="292" r:id="rId23"/>
    <p:sldId id="271" r:id="rId24"/>
    <p:sldId id="272" r:id="rId25"/>
    <p:sldId id="273" r:id="rId26"/>
    <p:sldId id="274" r:id="rId27"/>
    <p:sldId id="275" r:id="rId28"/>
    <p:sldId id="291" r:id="rId29"/>
    <p:sldId id="277" r:id="rId30"/>
    <p:sldId id="278" r:id="rId31"/>
    <p:sldId id="279" r:id="rId32"/>
    <p:sldId id="280" r:id="rId33"/>
    <p:sldId id="28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EC1F4-EEAD-4030-8E8A-2C361EBDAAD6}" type="datetimeFigureOut">
              <a:rPr lang="LID4096" smtClean="0"/>
              <a:t>10/30/2025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D4DFE-63C1-48E6-950A-B15674DF66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647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8D4DFE-63C1-48E6-950A-B15674DF669E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455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13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tangle 6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r" defTabSz="914400">
              <a:lnSpc>
                <a:spcPct val="80000"/>
              </a:lnSpc>
              <a:buNone/>
            </a:pPr>
            <a:r>
              <a:rPr lang="en-US" sz="5000" b="0" u="none" strike="noStrike" cap="all" spc="201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1</a:t>
            </a:r>
            <a:fld id="{9617B34E-FBE7-403E-AED0-A4AFFD361606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9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13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45720" rIns="45720" bIns="45720" anchor="t">
            <a:no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dt" idx="4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5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6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6A3C62DA-73DE-47FB-AAAD-E38A0E316832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22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762120"/>
            <a:ext cx="2628720" cy="540972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91440" rIns="45720" bIns="9144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90720" y="762120"/>
            <a:ext cx="7581600" cy="5409720"/>
          </a:xfrm>
          <a:prstGeom prst="rect">
            <a:avLst/>
          </a:prstGeom>
          <a:noFill/>
          <a:ln w="0">
            <a:noFill/>
          </a:ln>
        </p:spPr>
        <p:txBody>
          <a:bodyPr vert="eaVert" lIns="45720" tIns="45720" rIns="45720" bIns="45720" anchor="t">
            <a:no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30487DC7-6CCD-4C84-BE85-75B288B44D5E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9" name="Straight Connector 6"/>
          <p:cNvCxnSpPr/>
          <p:nvPr/>
        </p:nvCxnSpPr>
        <p:spPr>
          <a:xfrm>
            <a:off x="9601200" y="516240"/>
            <a:ext cx="914760" cy="3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30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32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44A437CF-B7E7-4FA0-9061-C5B779519BD7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41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Rectangle 6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r" defTabSz="914400">
              <a:lnSpc>
                <a:spcPct val="80000"/>
              </a:lnSpc>
              <a:buNone/>
            </a:pPr>
            <a:r>
              <a:rPr lang="en-US" sz="5000" b="0" u="none" strike="noStrike" cap="all" spc="201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13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14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15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0678D97-1734-4815-877D-DF6A4040E1CC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9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D2CB6C"/>
            </a:solidFill>
            <a:round/>
          </a:ln>
        </p:spPr>
      </p:cxnSp>
      <p:pic>
        <p:nvPicPr>
          <p:cNvPr id="50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53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98932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D282DC02-76F7-4CDA-BC31-0B97D1B07340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63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102420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tIns="45720" rIns="13716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3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102420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598932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tIns="45720" rIns="137160" bIns="45720" anchor="ctr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23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598932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70" name="PlaceHolder 6"/>
          <p:cNvSpPr>
            <a:spLocks noGrp="1"/>
          </p:cNvSpPr>
          <p:nvPr>
            <p:ph type="dt" idx="19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 type="ftr" idx="20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2" name="PlaceHolder 8"/>
          <p:cNvSpPr>
            <a:spLocks noGrp="1"/>
          </p:cNvSpPr>
          <p:nvPr>
            <p:ph type="sldNum" idx="21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38EA1AB6-7600-4243-B6B4-FAC06A40A87A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75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dt" idx="22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23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sldNum" idx="24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98D37728-73C0-44EB-ACD8-1780061B4ACF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83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dt" idx="25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ftr" idx="26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sldNum" idx="27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204B5E19-C71B-4164-8278-BDFB23F5E3CF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8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90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24200" y="471600"/>
            <a:ext cx="4388760" cy="173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4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715000" y="822960"/>
            <a:ext cx="5677920" cy="518436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anchor="t">
            <a:no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9CBEBD"/>
              </a:buClr>
              <a:buFont typeface="Wingdings 3" charset="2"/>
              <a:buChar char="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1024200" y="2257560"/>
            <a:ext cx="4388760" cy="376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8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dt" idx="28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29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7" name="PlaceHolder 6"/>
          <p:cNvSpPr>
            <a:spLocks noGrp="1"/>
          </p:cNvSpPr>
          <p:nvPr>
            <p:ph type="sldNum" idx="30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2AD88A9F-2D00-4E3E-86B7-B05D69FA70AB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100" name="Picture 2" descr="Makerere University - data.org"/>
          <p:cNvPicPr/>
          <p:nvPr/>
        </p:nvPicPr>
        <p:blipFill>
          <a:blip r:embed="rId2"/>
          <a:stretch/>
        </p:blipFill>
        <p:spPr>
          <a:xfrm>
            <a:off x="11469600" y="10440"/>
            <a:ext cx="70416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r" defTabSz="914400">
              <a:lnSpc>
                <a:spcPct val="80000"/>
              </a:lnSpc>
              <a:buNone/>
            </a:pPr>
            <a:r>
              <a:rPr lang="en-US" sz="5000" b="0" u="none" strike="noStrike" cap="all" spc="201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88520" cy="4571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txBody>
          <a:bodyPr lIns="457200" tIns="365760" rIns="4572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dt" idx="3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ftr" idx="3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7" name="PlaceHolder 6"/>
          <p:cNvSpPr>
            <a:spLocks noGrp="1"/>
          </p:cNvSpPr>
          <p:nvPr>
            <p:ph type="sldNum" idx="3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668EF4B-06FC-4556-8387-30A48531623A}" type="slidenum">
              <a:rPr lang="en-US" sz="10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08" name="Straight Connector 8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9CBEBD"/>
            </a:solidFill>
            <a:round/>
          </a:ln>
        </p:spPr>
      </p:cxnSp>
      <p:pic>
        <p:nvPicPr>
          <p:cNvPr id="109" name="Picture 2" descr="Makerere University College of Computing &amp; Information Sciences (CoCIS)"/>
          <p:cNvPicPr/>
          <p:nvPr/>
        </p:nvPicPr>
        <p:blipFill>
          <a:blip r:embed="rId3"/>
          <a:stretch/>
        </p:blipFill>
        <p:spPr>
          <a:xfrm>
            <a:off x="-8640" y="-12240"/>
            <a:ext cx="1793160" cy="35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95;p1"/>
          <p:cNvSpPr/>
          <p:nvPr/>
        </p:nvSpPr>
        <p:spPr>
          <a:xfrm>
            <a:off x="475920" y="813240"/>
            <a:ext cx="10235160" cy="24519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 anchorCtr="1">
            <a:spAutoFit/>
          </a:bodyPr>
          <a:lstStyle/>
          <a:p>
            <a:pPr algn="ctr" defTabSz="914400">
              <a:lnSpc>
                <a:spcPts val="555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Semi Bold"/>
              </a:rPr>
              <a:t>Large Vision Models for Multi-Disease Retinal Screening in Ugandan Healthcare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Group CODE: </a:t>
            </a:r>
            <a:r>
              <a:rPr lang="en-US" sz="3000" b="1" dirty="0">
                <a:solidFill>
                  <a:schemeClr val="dk1"/>
                </a:solidFill>
              </a:rPr>
              <a:t>SW-AI-52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96;p1"/>
          <p:cNvSpPr/>
          <p:nvPr/>
        </p:nvSpPr>
        <p:spPr>
          <a:xfrm>
            <a:off x="177120" y="4665600"/>
            <a:ext cx="9181080" cy="115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2E2B21"/>
              </a:buClr>
              <a:buFont typeface="Calibri"/>
              <a:buAutoNum type="arabicPeriod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Mpairwe Lauben, 2200721345, 22/U/21345, mpairwe.lauben@students.mak.ac.ug , Makerere University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2E2B21"/>
              </a:buClr>
              <a:buAutoNum type="arabicPeriod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Makmot Kabira Johnson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2370026794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23/U/26794/EVE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mamot.kabirajohnson@students.mak.ac.ug , Makerere University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2E2B21"/>
              </a:buClr>
              <a:buFont typeface="Calibri"/>
              <a:buAutoNum type="arabicPeriod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Kayiwa Rahim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2300709499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23/U/09499/EVE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,  kayiwa.rahim@students.mak.ac.ug ,Makerere university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Google Shape;121;p5"/>
          <p:cNvSpPr/>
          <p:nvPr/>
        </p:nvSpPr>
        <p:spPr>
          <a:xfrm>
            <a:off x="643680" y="3429000"/>
            <a:ext cx="107298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"/>
              </a:rPr>
              <a:t>Keywords:  Retinal Disease Screening, Large Vision Models (LVMs), Graph-Based Reasoning, Diabetic and Hypertensive Retinopathy, Mobile Health Applications, Explainable AI in Ophthalmology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79000" y="4938120"/>
            <a:ext cx="374112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rmAutofit fontScale="90000"/>
          </a:bodyPr>
          <a:lstStyle/>
          <a:p>
            <a:pPr indent="0" algn="ctr" defTabSz="914400">
              <a:lnSpc>
                <a:spcPct val="80000"/>
              </a:lnSpc>
              <a:buNone/>
            </a:pPr>
            <a:r>
              <a:rPr lang="en-US" sz="2000" b="0" u="none" strike="noStrike" cap="all" spc="201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imes New Roman"/>
              </a:rPr>
              <a:t>Department of Computer Science, COCIS</a:t>
            </a:r>
            <a:br>
              <a:rPr sz="2000"/>
            </a:br>
            <a:r>
              <a:rPr lang="en-US" sz="2000" b="0" u="none" strike="noStrike" cap="all" spc="201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imes New Roman"/>
              </a:rPr>
              <a:t>Makerere University</a:t>
            </a:r>
            <a:br>
              <a:rPr sz="2000"/>
            </a:br>
            <a:r>
              <a:rPr lang="en-US" sz="2000" b="0" u="none" strike="noStrike" cap="all" spc="201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imes New Roman"/>
              </a:rPr>
              <a:t>Supervisor: Ggaliwango Marvin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981080" y="380880"/>
            <a:ext cx="807696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Contents of Presentation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755640" y="947880"/>
            <a:ext cx="11019240" cy="51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90000"/>
              </a:lnSpc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Introduction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Related work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Problem Statement 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Research Questions and Objectives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Research Contributions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Methodology / System Architecture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Dataset Description 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Results (Experimental / Simulation)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Conclusions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Anticipated Limitations and counteraction plan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None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</a:p>
          <a:p>
            <a:pPr marL="343080" indent="0" defTabSz="914400">
              <a:lnSpc>
                <a:spcPct val="90000"/>
              </a:lnSpc>
              <a:spcBef>
                <a:spcPts val="536"/>
              </a:spcBef>
              <a:spcAft>
                <a:spcPts val="201"/>
              </a:spcAft>
              <a:buNone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0" y="287640"/>
            <a:ext cx="11373480" cy="75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80000"/>
              </a:lnSpc>
              <a:buNone/>
            </a:pPr>
            <a:r>
              <a:rPr lang="en-US" sz="4500" b="0" u="none" strike="noStrike" cap="all" spc="99" dirty="0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BACKGROUND AND Introduction</a:t>
            </a:r>
            <a:endParaRPr lang="en-US" sz="45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16430" y="1236960"/>
            <a:ext cx="10330542" cy="493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0" defTabSz="914400">
              <a:lnSpc>
                <a:spcPts val="3050"/>
              </a:lnSpc>
              <a:buNone/>
              <a:tabLst>
                <a:tab pos="0" algn="l"/>
              </a:tabLst>
            </a:pP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0" defTabSz="914400">
              <a:lnSpc>
                <a:spcPts val="3050"/>
              </a:lnSpc>
              <a:buNone/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Semi Bold"/>
              </a:rPr>
              <a:t>The Retina's Role: The retina is a non-invasive window into both systemic and ocular health.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ts val="3050"/>
              </a:lnSpc>
              <a:buNone/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Semi Bold"/>
              </a:rPr>
              <a:t> 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ts val="3050"/>
              </a:lnSpc>
              <a:buNone/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Semi Bold"/>
              </a:rPr>
              <a:t>  The Problem in Uganda: High prevalence of diseases like diabetic retinopathy, glaucoma, and hypertensive retinopathy.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ts val="3050"/>
              </a:lnSpc>
              <a:buNone/>
              <a:tabLst>
                <a:tab pos="0" algn="l"/>
              </a:tabLst>
            </a:pP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ts val="3050"/>
              </a:lnSpc>
              <a:buNone/>
              <a:tabLst>
                <a:tab pos="0" algn="l"/>
              </a:tabLst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Semi Bold"/>
              </a:rPr>
              <a:t>Current Gaps: Limited access to ophthalmologists and specialized screening equipment, especially in rural areas.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Google Shape;109;p3"/>
          <p:cNvSpPr/>
          <p:nvPr/>
        </p:nvSpPr>
        <p:spPr>
          <a:xfrm>
            <a:off x="6111720" y="1236960"/>
            <a:ext cx="6024240" cy="533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343080" indent="-343080" defTabSz="914400">
              <a:lnSpc>
                <a:spcPct val="90000"/>
              </a:lnSpc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33120" y="380880"/>
            <a:ext cx="9896400" cy="43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Related Works/ Recent Trends/ Literature REveiw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20834" y="1264320"/>
            <a:ext cx="5831280" cy="51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914400">
              <a:lnSpc>
                <a:spcPts val="3300"/>
              </a:lnSpc>
              <a:buClr>
                <a:srgbClr val="9CBEBD"/>
              </a:buClr>
              <a:buFont typeface="Tw Cen MT"/>
              <a:buChar char=" "/>
              <a:tabLst>
                <a:tab pos="0" algn="l"/>
              </a:tabLst>
            </a:pPr>
            <a:r>
              <a:rPr lang="en-US" sz="265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Instrument Sans Semi Bold"/>
              </a:rPr>
              <a:t>Early AI in Ophthalmology</a:t>
            </a:r>
            <a:endParaRPr lang="en-US" sz="2650" b="0" u="none" strike="noStrike" dirty="0">
              <a:solidFill>
                <a:srgbClr val="000000"/>
              </a:solidFill>
              <a:effectLst/>
              <a:uFillTx/>
              <a:latin typeface="Tw Cen MT"/>
            </a:endParaRPr>
          </a:p>
          <a:p>
            <a:pPr marL="343080" indent="0" defTabSz="914400">
              <a:lnSpc>
                <a:spcPts val="3300"/>
              </a:lnSpc>
              <a:buNone/>
              <a:tabLst>
                <a:tab pos="0" algn="l"/>
              </a:tabLst>
            </a:pPr>
            <a:r>
              <a:rPr lang="en-US" sz="265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Instrument Sans Semi Bold"/>
              </a:rPr>
              <a:t> </a:t>
            </a:r>
            <a:endParaRPr lang="en-US" sz="2650" b="0" u="none" strike="noStrike" dirty="0">
              <a:solidFill>
                <a:srgbClr val="000000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ts val="2849"/>
              </a:lnSpc>
              <a:buClr>
                <a:srgbClr val="CFD0D8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Semi Bold"/>
              </a:rPr>
              <a:t>  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Focus on single-disease detection (e.g., grading diabetic retinopathy).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w Cen MT"/>
            </a:endParaRPr>
          </a:p>
          <a:p>
            <a:pPr marL="343080" indent="0" defTabSz="914400">
              <a:lnSpc>
                <a:spcPts val="2849"/>
              </a:lnSpc>
              <a:buNone/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ts val="2849"/>
              </a:lnSpc>
              <a:buClr>
                <a:srgbClr val="CFD0D8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Relied on traditional machine learning and simpler CNNs.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w Cen MT"/>
            </a:endParaRPr>
          </a:p>
          <a:p>
            <a:pPr marL="343080" indent="0" defTabSz="914400">
              <a:lnSpc>
                <a:spcPts val="2849"/>
              </a:lnSpc>
              <a:buNone/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ts val="2849"/>
              </a:lnSpc>
              <a:buClr>
                <a:srgbClr val="CFD0D8"/>
              </a:buClr>
              <a:buFont typeface="Symbol" charset="2"/>
              <a:buChar char="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Limited generalizability and multi-disease capabilities.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w Cen MT"/>
            </a:endParaRPr>
          </a:p>
        </p:txBody>
      </p:sp>
      <p:sp>
        <p:nvSpPr>
          <p:cNvPr id="122" name="Google Shape;121;p5"/>
          <p:cNvSpPr/>
          <p:nvPr/>
        </p:nvSpPr>
        <p:spPr>
          <a:xfrm>
            <a:off x="6120720" y="1264320"/>
            <a:ext cx="5996160" cy="512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343080" indent="-343080" defTabSz="914400">
              <a:lnSpc>
                <a:spcPts val="3300"/>
              </a:lnSpc>
              <a:buClr>
                <a:srgbClr val="9CBEBD"/>
              </a:buClr>
              <a:buFont typeface="Tw Cen MT"/>
              <a:buChar char=" "/>
              <a:tabLst>
                <a:tab pos="0" algn="l"/>
              </a:tabLst>
            </a:pPr>
            <a:r>
              <a:rPr lang="en-US" sz="265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Instrument Sans Semi Bold"/>
              </a:rPr>
              <a:t>Recent Advancements:</a:t>
            </a:r>
            <a:endParaRPr lang="en-US" sz="2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300"/>
              </a:lnSpc>
              <a:buClr>
                <a:srgbClr val="9CBEBD"/>
              </a:buClr>
              <a:buFont typeface="Tw Cen MT"/>
              <a:buChar char=" "/>
              <a:tabLst>
                <a:tab pos="0" algn="l"/>
              </a:tabLst>
            </a:pPr>
            <a:r>
              <a:rPr lang="en-US" sz="265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Instrument Sans Semi Bold"/>
              </a:rPr>
              <a:t> </a:t>
            </a:r>
            <a:endParaRPr lang="en-US" sz="2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300"/>
              </a:lnSpc>
              <a:tabLst>
                <a:tab pos="0" algn="l"/>
              </a:tabLst>
            </a:pPr>
            <a:endParaRPr lang="en-US" sz="2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49"/>
              </a:lnSpc>
              <a:buClr>
                <a:srgbClr val="CFD0D8"/>
              </a:buClr>
              <a:buFont typeface="Symbol" charset="2"/>
              <a:buChar char=""/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Large Vision Models (LVMs) like Vision Transformers show state-of-the-art performance on complex vision tasks.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49"/>
              </a:lnSpc>
              <a:buClr>
                <a:srgbClr val="CFD0D8"/>
              </a:buClr>
              <a:buFont typeface="Symbol" charset="2"/>
              <a:buChar char=""/>
            </a:pP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849"/>
              </a:lnSpc>
              <a:buClr>
                <a:srgbClr val="CFD0D8"/>
              </a:buClr>
              <a:buFont typeface="Symbol" charset="2"/>
              <a:buChar char=""/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Instrument Sans Medium"/>
              </a:rPr>
              <a:t>Knowledge graphs and graph-based reasoning are emerging for enhancing diagnostic accuracy and explainability by modeling clinical knowledge</a:t>
            </a:r>
            <a:r>
              <a:rPr lang="en-US" sz="2200" b="0" u="none" strike="noStrike" dirty="0">
                <a:solidFill>
                  <a:srgbClr val="CFD0D8"/>
                </a:solidFill>
                <a:effectLst/>
                <a:uFillTx/>
                <a:latin typeface="Times New Roman"/>
                <a:ea typeface="Instrument Sans Medium"/>
              </a:rPr>
              <a:t>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038540" y="480600"/>
            <a:ext cx="4114920" cy="43554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914400">
              <a:lnSpc>
                <a:spcPct val="80000"/>
              </a:lnSpc>
              <a:buNone/>
            </a:pPr>
            <a:r>
              <a:rPr lang="en-US" sz="5000" b="0" u="none" strike="noStrike" cap="all" spc="99" dirty="0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Problem Statements</a:t>
            </a:r>
            <a:endParaRPr lang="en-US" sz="50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90480" y="1349640"/>
            <a:ext cx="4888800" cy="51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20000"/>
          </a:bodyPr>
          <a:lstStyle/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Domain Application Problem: Retinal Disease Screening Crisis</a:t>
            </a:r>
            <a:br>
              <a:rPr sz="1800" dirty="0"/>
            </a:br>
            <a:br>
              <a:rPr sz="1800" dirty="0"/>
            </a:b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Healthcare Context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Specialist Shortage: Only 1 ophthalmologist per 1 million people (vs WHO recommendation of 1 per 250,000)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Geographic Barriers: 85% rural population with limited eye care access.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Economic Constraints: Consultation costs exceed monthly income for 60% of population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Late Detection: 80% of diseases diagnosed at advanced stages</a:t>
            </a: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Clinical Challenge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Multi-Label Complexity: Average 2.3 diseases per positive case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Diagnostic Accuracy: Manual screening only 70-85% accurate</a:t>
            </a:r>
            <a:endParaRPr lang="en-US" sz="18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latin typeface="Times New Roman"/>
              </a:rPr>
              <a:t>Time Constraints: 15-20 minutes per expert diagnosis</a:t>
            </a:r>
          </a:p>
          <a:p>
            <a:pPr indent="0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latin typeface="Times New Roman"/>
              </a:rPr>
              <a:t>Disease Burden: High prevalence of diabetic retinopathy (15.2%), glaucoma (8.4%), AMD (6.8%)</a:t>
            </a: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5" name="Google Shape;115;p 2"/>
          <p:cNvSpPr/>
          <p:nvPr/>
        </p:nvSpPr>
        <p:spPr>
          <a:xfrm>
            <a:off x="6861240" y="1250280"/>
            <a:ext cx="4888800" cy="512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Computational Complexities.</a:t>
            </a:r>
            <a:br>
              <a:rPr sz="2200" dirty="0"/>
            </a:b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Multi-Label Learning: Exponential label space (2^46 combinations)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Medical Image Processing: High-resolution images with fine diagnostic details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Severe Class Imbalance: Majority class bias affecting rare disease detection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Explainability Requirements: Interpretable predictions for clinical trust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Mobile Deployment: Resource constraints with accuracy preservation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981080" y="380880"/>
            <a:ext cx="807696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Research Questions and Objectives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105560" y="864720"/>
            <a:ext cx="10642680" cy="51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 fontScale="62500" lnSpcReduction="20000"/>
          </a:bodyPr>
          <a:lstStyle/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Specific Objectives</a:t>
            </a:r>
            <a:endParaRPr lang="en-US" sz="2400" b="1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To develop a robust multi-disease classification system</a:t>
            </a:r>
            <a:endParaRPr lang="en-US" sz="26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To deploy an edge-optimized clinical solution</a:t>
            </a:r>
            <a:endParaRPr lang="en-US" sz="26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To establish explainable AI for clinical trust</a:t>
            </a:r>
            <a:endParaRPr lang="en-US" sz="26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To evaluate system performance against clinical standards</a:t>
            </a:r>
            <a:endParaRPr lang="en-US" sz="26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❓ Four Key Questions Addressed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Technical: Multi-architecture combination for multi-label classification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Clinical: Required accuracy and explainability for clinical acceptance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Deployment: AI optimization for resource-constrained environments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Validation: Appropriate evaluation metrics for clinical utility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981080" y="380880"/>
            <a:ext cx="807696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Research Contributions &amp; outputs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1017000" y="975960"/>
            <a:ext cx="10674000" cy="444512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Specific Contributions to Retinal Disease Detection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br>
              <a:rPr sz="2200" dirty="0"/>
            </a:b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We developed a comprehensive multi-architecture ensemble framework that combines </a:t>
            </a:r>
            <a:r>
              <a:rPr lang="en-US" sz="22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EfficientNet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, Vision Transformers, and </a:t>
            </a:r>
            <a:r>
              <a:rPr lang="en-US" sz="22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ConvNeXT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models for robust retinal disease classification, achieving superior performance compared to single-model approaches in handling the complex multi-label nature of retinal pathologies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We deployed novel mobile optimization techniques specifically tailored for medical imaging, achieving 87% model size reduction (132MB → 32MB) while maintaining &gt;</a:t>
            </a:r>
            <a:r>
              <a:rPr lang="en-US" sz="2200" dirty="0">
                <a:solidFill>
                  <a:schemeClr val="dk1"/>
                </a:solidFill>
                <a:latin typeface="Times New Roman"/>
              </a:rPr>
              <a:t>80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% accuracy retention, making advanced AI-powered retinal screening accessible in resource-limited healthcare settings.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We developed  an integrated explainability system combining </a:t>
            </a:r>
            <a:r>
              <a:rPr lang="en-US" sz="22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GradCAM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attention visualization, SHAP feature importance analysis, and uncertainty quantification with clinical decision support, providing transparent AI reasoning that builds trust with healthcare professionals.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81080" y="380880"/>
            <a:ext cx="807696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914400">
              <a:lnSpc>
                <a:spcPct val="80000"/>
              </a:lnSpc>
              <a:buNone/>
            </a:pPr>
            <a:r>
              <a:rPr lang="en-US" sz="5000" b="0" u="none" strike="noStrike" cap="all" spc="99" dirty="0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Methodology</a:t>
            </a:r>
            <a:endParaRPr lang="en-US" sz="50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60680" y="1045080"/>
            <a:ext cx="10897920" cy="51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0" defTabSz="914400">
              <a:lnSpc>
                <a:spcPct val="90000"/>
              </a:lnSpc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</a:p>
          <a:p>
            <a:pPr marL="343080" indent="-190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950400" y="1738800"/>
            <a:ext cx="1828800" cy="1143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Input Pipeline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257800" y="1600200"/>
            <a:ext cx="2286000" cy="1143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Pre-processing Pipeline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686800" y="1600200"/>
            <a:ext cx="2286000" cy="1143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Training Architecture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229600" y="4114800"/>
            <a:ext cx="29718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and Validation Pipeline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800600" y="4114800"/>
            <a:ext cx="27432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Explainability and Analysis Layer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09040" y="4114800"/>
            <a:ext cx="27432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Clinician Deployment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0" y="5486400"/>
            <a:ext cx="27432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Mobile Optimizer Layer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800600" y="4114800"/>
            <a:ext cx="27432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Explainability and Analysis Layer</a:t>
            </a:r>
          </a:p>
        </p:txBody>
      </p:sp>
      <p:sp>
        <p:nvSpPr>
          <p:cNvPr id="140" name="Straight Connector 139"/>
          <p:cNvSpPr/>
          <p:nvPr/>
        </p:nvSpPr>
        <p:spPr>
          <a:xfrm>
            <a:off x="2779200" y="2286000"/>
            <a:ext cx="24786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traight Connector 140"/>
          <p:cNvSpPr/>
          <p:nvPr/>
        </p:nvSpPr>
        <p:spPr>
          <a:xfrm>
            <a:off x="7543800" y="2057400"/>
            <a:ext cx="1143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traight Connector 141"/>
          <p:cNvSpPr/>
          <p:nvPr/>
        </p:nvSpPr>
        <p:spPr>
          <a:xfrm>
            <a:off x="9829800" y="2743200"/>
            <a:ext cx="0" cy="13716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traight Connector 142"/>
          <p:cNvSpPr/>
          <p:nvPr/>
        </p:nvSpPr>
        <p:spPr>
          <a:xfrm flipH="1">
            <a:off x="7543800" y="4572000"/>
            <a:ext cx="6858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traight Connector 143"/>
          <p:cNvSpPr/>
          <p:nvPr/>
        </p:nvSpPr>
        <p:spPr>
          <a:xfrm flipH="1">
            <a:off x="4114800" y="4572000"/>
            <a:ext cx="6858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traight Connector 144"/>
          <p:cNvSpPr/>
          <p:nvPr/>
        </p:nvSpPr>
        <p:spPr>
          <a:xfrm>
            <a:off x="2514600" y="5029200"/>
            <a:ext cx="0" cy="4572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traight Connector 145"/>
          <p:cNvSpPr/>
          <p:nvPr/>
        </p:nvSpPr>
        <p:spPr>
          <a:xfrm>
            <a:off x="5257800" y="5527440"/>
            <a:ext cx="53964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28B4-49FB-E481-7040-E63CFD9D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80" y="302331"/>
            <a:ext cx="9719640" cy="764469"/>
          </a:xfrm>
        </p:spPr>
        <p:txBody>
          <a:bodyPr/>
          <a:lstStyle/>
          <a:p>
            <a:pPr algn="ctr"/>
            <a:r>
              <a:rPr lang="en-US" dirty="0"/>
              <a:t>SYSTEM ARCHITECTURE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F31A2-372C-9915-4DBD-0117E91F0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063" y="909162"/>
            <a:ext cx="8833757" cy="546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87880" y="337457"/>
            <a:ext cx="10729800" cy="50674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 dirty="0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Dataset Description and Exploratory data analysis</a:t>
            </a:r>
            <a:endParaRPr lang="en-US" sz="50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345239" y="1069201"/>
            <a:ext cx="3878417" cy="480908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914400">
              <a:lnSpc>
                <a:spcPct val="90000"/>
              </a:lnSpc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Dataset Composition</a:t>
            </a: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343080" indent="-190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49" name="Google Shape;133;p7"/>
          <p:cNvSpPr/>
          <p:nvPr/>
        </p:nvSpPr>
        <p:spPr>
          <a:xfrm>
            <a:off x="3978000" y="1174680"/>
            <a:ext cx="8020800" cy="35823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343080" indent="-343080" defTabSz="914400">
              <a:lnSpc>
                <a:spcPct val="90000"/>
              </a:lnSpc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190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1" name="Table 150"/>
          <p:cNvGraphicFramePr/>
          <p:nvPr>
            <p:extLst>
              <p:ext uri="{D42A27DB-BD31-4B8C-83A1-F6EECF244321}">
                <p14:modId xmlns:p14="http://schemas.microsoft.com/office/powerpoint/2010/main" val="824018005"/>
              </p:ext>
            </p:extLst>
          </p:nvPr>
        </p:nvGraphicFramePr>
        <p:xfrm>
          <a:off x="435430" y="1484503"/>
          <a:ext cx="3683880" cy="4304297"/>
        </p:xfrm>
        <a:graphic>
          <a:graphicData uri="http://schemas.openxmlformats.org/drawingml/2006/table">
            <a:tbl>
              <a:tblPr/>
              <a:tblGrid>
                <a:gridCol w="150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8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520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Attribute 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Details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120">
                <a:tc>
                  <a:txBody>
                    <a:bodyPr/>
                    <a:lstStyle/>
                    <a:p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Total Images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3200 high resolution retinal fundus images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Training Set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G" sz="1200" dirty="0"/>
                        <a:t>2240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 images (70%)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Validation Set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G" sz="1200" dirty="0"/>
                        <a:t>640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 images (20%)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Test Set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G" sz="1200" dirty="0"/>
                        <a:t>320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 images(10%)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400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Image format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PNG format,RGB color space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Resolution range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2144x1424 - 4288x2848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771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File Size range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899KB to *MB per image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96200">
                <a:tc>
                  <a:txBody>
                    <a:bodyPr/>
                    <a:lstStyle/>
                    <a:p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Disease Categories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omic Sans MS" panose="030F0702030302020204" pitchFamily="66" charset="0"/>
                        </a:rPr>
                        <a:t>46 distinct pathological conditions + Normal</a:t>
                      </a: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20252EF-54B9-7A92-6394-AECABA22E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21" y="844200"/>
            <a:ext cx="6650899" cy="59210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EEB8-42C1-C3E8-66D2-560D34C9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972" y="134211"/>
            <a:ext cx="6399857" cy="993069"/>
          </a:xfrm>
        </p:spPr>
        <p:txBody>
          <a:bodyPr/>
          <a:lstStyle/>
          <a:p>
            <a:r>
              <a:rPr lang="en-US" cap="all" spc="99" dirty="0" err="1">
                <a:solidFill>
                  <a:schemeClr val="dk1">
                    <a:lumMod val="90000"/>
                    <a:lumOff val="10000"/>
                  </a:schemeClr>
                </a:solidFill>
              </a:rPr>
              <a:t>Cont’n</a:t>
            </a:r>
            <a:r>
              <a:rPr lang="en-US" cap="all" spc="99" dirty="0">
                <a:solidFill>
                  <a:schemeClr val="dk1">
                    <a:lumMod val="90000"/>
                    <a:lumOff val="10000"/>
                  </a:schemeClr>
                </a:solidFill>
              </a:rPr>
              <a:t> </a:t>
            </a:r>
            <a:r>
              <a:rPr lang="en-US" cap="all" spc="99" dirty="0" err="1">
                <a:solidFill>
                  <a:schemeClr val="dk1">
                    <a:lumMod val="90000"/>
                    <a:lumOff val="10000"/>
                  </a:schemeClr>
                </a:solidFill>
              </a:rPr>
              <a:t>EDA_Bivariate_Analysis</a:t>
            </a:r>
            <a:endParaRPr lang="en-U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06CFE6-7F71-9DF1-AF86-268085E82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680" y="887794"/>
            <a:ext cx="7236439" cy="573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03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743D4-5600-8AC5-851A-EE9FC800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FBBD-178C-BBD3-1640-DF2119F1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500" y="362757"/>
            <a:ext cx="6399857" cy="1080154"/>
          </a:xfrm>
        </p:spPr>
        <p:txBody>
          <a:bodyPr/>
          <a:lstStyle/>
          <a:p>
            <a:r>
              <a:rPr lang="en-US" cap="all" spc="99" dirty="0" err="1">
                <a:solidFill>
                  <a:schemeClr val="dk1">
                    <a:lumMod val="90000"/>
                    <a:lumOff val="10000"/>
                  </a:schemeClr>
                </a:solidFill>
              </a:rPr>
              <a:t>Cont’n</a:t>
            </a:r>
            <a:r>
              <a:rPr lang="en-US" cap="all" spc="99" dirty="0">
                <a:solidFill>
                  <a:schemeClr val="dk1">
                    <a:lumMod val="90000"/>
                    <a:lumOff val="10000"/>
                  </a:schemeClr>
                </a:solidFill>
              </a:rPr>
              <a:t> </a:t>
            </a:r>
            <a:r>
              <a:rPr lang="en-US" cap="all" spc="99" dirty="0" err="1">
                <a:solidFill>
                  <a:schemeClr val="dk1">
                    <a:lumMod val="90000"/>
                    <a:lumOff val="10000"/>
                  </a:schemeClr>
                </a:solidFill>
              </a:rPr>
              <a:t>EDA_Bivariate_Analysis</a:t>
            </a:r>
            <a:endParaRPr lang="en-U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BBF1B2-947D-A09C-C4D3-2B015985A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529" y="2917371"/>
            <a:ext cx="9067800" cy="30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21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E1B80-ABCA-02F2-6D42-BCFC83470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71" y="423339"/>
            <a:ext cx="10204073" cy="63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34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2276AE-060C-DB66-2868-C73E56D7F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37" y="480549"/>
            <a:ext cx="10604126" cy="637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40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790BCC-CD4E-F6C7-4E9B-4C897630A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60" y="308105"/>
            <a:ext cx="10515680" cy="653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37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97D9EF-297F-720F-5E5D-8781C28B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564838"/>
            <a:ext cx="10176178" cy="629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40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09C0-CB8B-7492-1B28-09A3DA6E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360D275B-4A82-CA98-91BA-77696077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080" y="380880"/>
            <a:ext cx="978444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 dirty="0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OUTPUT Results and Discussions</a:t>
            </a:r>
            <a:endParaRPr lang="en-US" sz="50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B4A07-F0B4-70EA-DF0A-A4E2317C8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4" y="1306191"/>
            <a:ext cx="10368643" cy="498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8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981080" y="380880"/>
            <a:ext cx="978444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OUTPUT Results and Discussions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01DA27-523F-A258-A40F-E79023626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" y="1098464"/>
            <a:ext cx="10450286" cy="5759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981080" y="457200"/>
            <a:ext cx="8076960" cy="28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28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Expected Results and Discussions – Cont’d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02600" y="975960"/>
            <a:ext cx="11858760" cy="57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0" defTabSz="914400">
              <a:lnSpc>
                <a:spcPct val="90000"/>
              </a:lnSpc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</a:p>
          <a:p>
            <a:pPr marL="343080" indent="-190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60" name="Picture 159"/>
          <p:cNvPicPr/>
          <p:nvPr/>
        </p:nvPicPr>
        <p:blipFill>
          <a:blip r:embed="rId2"/>
          <a:stretch/>
        </p:blipFill>
        <p:spPr>
          <a:xfrm>
            <a:off x="741420" y="1266840"/>
            <a:ext cx="10556280" cy="512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979640" y="252360"/>
            <a:ext cx="8076960" cy="28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28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Expected Results and Discussions – Cont’d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74520" y="653040"/>
            <a:ext cx="11886840" cy="60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0" defTabSz="914400">
              <a:lnSpc>
                <a:spcPct val="90000"/>
              </a:lnSpc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</a:p>
          <a:p>
            <a:pPr marL="343080" indent="-190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63" name="Picture 162"/>
          <p:cNvPicPr/>
          <p:nvPr/>
        </p:nvPicPr>
        <p:blipFill>
          <a:blip r:embed="rId2"/>
          <a:stretch/>
        </p:blipFill>
        <p:spPr>
          <a:xfrm>
            <a:off x="873720" y="914400"/>
            <a:ext cx="10327680" cy="5715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C42F-FDD6-519F-0234-C65A559D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199897"/>
          </a:xfrm>
        </p:spPr>
        <p:txBody>
          <a:bodyPr/>
          <a:lstStyle/>
          <a:p>
            <a:r>
              <a:rPr lang="en-US" cap="all" spc="99" dirty="0">
                <a:solidFill>
                  <a:schemeClr val="dk1">
                    <a:lumMod val="90000"/>
                    <a:lumOff val="10000"/>
                  </a:schemeClr>
                </a:solidFill>
              </a:rPr>
              <a:t>Expected Results and Discussions – Cont’d </a:t>
            </a:r>
            <a:endParaRPr lang="en-UG" dirty="0"/>
          </a:p>
        </p:txBody>
      </p:sp>
      <p:pic>
        <p:nvPicPr>
          <p:cNvPr id="166" name="Picture 165"/>
          <p:cNvPicPr/>
          <p:nvPr/>
        </p:nvPicPr>
        <p:blipFill>
          <a:blip r:embed="rId2"/>
          <a:stretch/>
        </p:blipFill>
        <p:spPr>
          <a:xfrm>
            <a:off x="2657057" y="1899634"/>
            <a:ext cx="6399857" cy="4373006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96548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EFEF-A375-6C00-3100-0E81084C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960411"/>
          </a:xfrm>
        </p:spPr>
        <p:txBody>
          <a:bodyPr/>
          <a:lstStyle/>
          <a:p>
            <a:pPr algn="ctr"/>
            <a:r>
              <a:rPr lang="en-US" dirty="0"/>
              <a:t>COMPREHENSIVE MODEL COMPARISON</a:t>
            </a:r>
            <a:endParaRPr lang="LID4096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304CAE-5663-1BE3-5676-8F88DCEFD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409239"/>
              </p:ext>
            </p:extLst>
          </p:nvPr>
        </p:nvGraphicFramePr>
        <p:xfrm>
          <a:off x="921206" y="1545771"/>
          <a:ext cx="1052375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981">
                  <a:extLst>
                    <a:ext uri="{9D8B030D-6E8A-4147-A177-3AD203B41FA5}">
                      <a16:colId xmlns:a16="http://schemas.microsoft.com/office/drawing/2014/main" val="1215672477"/>
                    </a:ext>
                  </a:extLst>
                </a:gridCol>
                <a:gridCol w="1334796">
                  <a:extLst>
                    <a:ext uri="{9D8B030D-6E8A-4147-A177-3AD203B41FA5}">
                      <a16:colId xmlns:a16="http://schemas.microsoft.com/office/drawing/2014/main" val="4262276787"/>
                    </a:ext>
                  </a:extLst>
                </a:gridCol>
                <a:gridCol w="1334796">
                  <a:extLst>
                    <a:ext uri="{9D8B030D-6E8A-4147-A177-3AD203B41FA5}">
                      <a16:colId xmlns:a16="http://schemas.microsoft.com/office/drawing/2014/main" val="3899662551"/>
                    </a:ext>
                  </a:extLst>
                </a:gridCol>
                <a:gridCol w="1334796">
                  <a:extLst>
                    <a:ext uri="{9D8B030D-6E8A-4147-A177-3AD203B41FA5}">
                      <a16:colId xmlns:a16="http://schemas.microsoft.com/office/drawing/2014/main" val="1429142638"/>
                    </a:ext>
                  </a:extLst>
                </a:gridCol>
                <a:gridCol w="1334796">
                  <a:extLst>
                    <a:ext uri="{9D8B030D-6E8A-4147-A177-3AD203B41FA5}">
                      <a16:colId xmlns:a16="http://schemas.microsoft.com/office/drawing/2014/main" val="2831915570"/>
                    </a:ext>
                  </a:extLst>
                </a:gridCol>
                <a:gridCol w="1334796">
                  <a:extLst>
                    <a:ext uri="{9D8B030D-6E8A-4147-A177-3AD203B41FA5}">
                      <a16:colId xmlns:a16="http://schemas.microsoft.com/office/drawing/2014/main" val="794321749"/>
                    </a:ext>
                  </a:extLst>
                </a:gridCol>
                <a:gridCol w="1334796">
                  <a:extLst>
                    <a:ext uri="{9D8B030D-6E8A-4147-A177-3AD203B41FA5}">
                      <a16:colId xmlns:a16="http://schemas.microsoft.com/office/drawing/2014/main" val="1008948101"/>
                    </a:ext>
                  </a:extLst>
                </a:gridCol>
              </a:tblGrid>
              <a:tr h="374877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 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Best F1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Macro F1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Micro F1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AUC-ROC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Parameters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 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699933"/>
                  </a:ext>
                </a:extLst>
              </a:tr>
              <a:tr h="540733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GraphCLIP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0.0407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0.2268 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0.5688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45.0M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0.8609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455034"/>
                  </a:ext>
                </a:extLst>
              </a:tr>
              <a:tr h="661344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VisualLanguageGNN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0.0396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246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5578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48.0M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726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328274"/>
                  </a:ext>
                </a:extLst>
              </a:tr>
              <a:tr h="504709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SceneGraphTransformer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0.0509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488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6031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52.0M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803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584591"/>
                  </a:ext>
                </a:extLst>
              </a:tr>
              <a:tr h="432937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ViGNN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0.0418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392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649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50.0M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G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759</a:t>
                      </a:r>
                      <a:endParaRPr lang="LID4096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4897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E4272B4-8D45-E2C0-58F9-7036AE779135}"/>
              </a:ext>
            </a:extLst>
          </p:cNvPr>
          <p:cNvSpPr/>
          <p:nvPr/>
        </p:nvSpPr>
        <p:spPr>
          <a:xfrm>
            <a:off x="1405200" y="4365171"/>
            <a:ext cx="5343943" cy="20356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Models by Metric: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F1 :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SceneGraphTransformer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(0.0509)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 :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SceneGraphTransformer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(0.6031)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: 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SceneGraphTransformer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(0.0355)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: 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GraphCLIP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(0.1654)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: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SceneGraphTransformer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(0.8803) 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44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024200" y="741523"/>
            <a:ext cx="9034200" cy="3323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EXPLAINABILITY SUMMARY DASHBOARD</a:t>
            </a:r>
          </a:p>
        </p:txBody>
      </p:sp>
      <p:pic>
        <p:nvPicPr>
          <p:cNvPr id="173" name="Picture 172"/>
          <p:cNvPicPr/>
          <p:nvPr/>
        </p:nvPicPr>
        <p:blipFill>
          <a:blip r:embed="rId2"/>
          <a:stretch/>
        </p:blipFill>
        <p:spPr>
          <a:xfrm>
            <a:off x="389467" y="1878440"/>
            <a:ext cx="7086600" cy="457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173"/>
          <p:cNvSpPr txBox="1"/>
          <p:nvPr/>
        </p:nvSpPr>
        <p:spPr>
          <a:xfrm>
            <a:off x="7772400" y="1737000"/>
            <a:ext cx="4343400" cy="501530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6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METRICS SUMMARY:</a:t>
            </a: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Average Model Confidence: 0.712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Prediction-Uncertainty Correlation: -0.795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High-Risk Diseases Detected: 3/5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Top Feature Importance: 0.310 (Conv2_Features)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Clinical Confidence Score: 78/100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Overall Explainability Score: 81.3/100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INSIGHTS:</a:t>
            </a: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Model shows high confidence with low uncertainty correlation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Strong clinical relevance and interpretability scores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Attention mechanisms provide clear disease localization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SHAP analysis reveals critical diagnostic features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Uncertainty quantification enables reliable clinical decisions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024200" y="45720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Statistical Significance Analysis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imes New Roman"/>
              <a:ea typeface="Liberation Mono;Courier New;DejaVu Sans Mono"/>
            </a:endParaRPr>
          </a:p>
        </p:txBody>
      </p:sp>
      <p:pic>
        <p:nvPicPr>
          <p:cNvPr id="176" name="Picture 175"/>
          <p:cNvPicPr/>
          <p:nvPr/>
        </p:nvPicPr>
        <p:blipFill>
          <a:blip r:embed="rId2"/>
          <a:stretch/>
        </p:blipFill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176"/>
          <p:cNvPicPr/>
          <p:nvPr/>
        </p:nvPicPr>
        <p:blipFill>
          <a:blip r:embed="rId3"/>
          <a:stretch/>
        </p:blipFill>
        <p:spPr>
          <a:xfrm>
            <a:off x="1024200" y="1680120"/>
            <a:ext cx="10286640" cy="462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Cont’n</a:t>
            </a:r>
          </a:p>
        </p:txBody>
      </p:sp>
      <p:pic>
        <p:nvPicPr>
          <p:cNvPr id="180" name="Picture 179"/>
          <p:cNvPicPr/>
          <p:nvPr/>
        </p:nvPicPr>
        <p:blipFill>
          <a:blip r:embed="rId2"/>
          <a:stretch/>
        </p:blipFill>
        <p:spPr>
          <a:xfrm>
            <a:off x="914400" y="1953000"/>
            <a:ext cx="5715000" cy="421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Box 180"/>
          <p:cNvSpPr txBox="1"/>
          <p:nvPr/>
        </p:nvSpPr>
        <p:spPr>
          <a:xfrm>
            <a:off x="6841067" y="2027453"/>
            <a:ext cx="4969933" cy="3568754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Clinical Interpretation and Recommendations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HIGH CLINICAL CONFIDENCE (F1 ≥ 0.8):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 • RS: F1=0.977 - Ready for clinical deployment 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  <a:ea typeface="Liberation Mono;Courier New;DejaVu Sans Mono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MODERATE CLINICAL CONFIDENCE (0.6 ≤ F1 &lt; 0.8):</a:t>
            </a: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   • CRS: F1=0.791 - Requires additional validation</a:t>
            </a: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NEEDS IMPROVEMENT (F1 &lt; 0.6):</a:t>
            </a: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 OVERALL SYSTEM ASSESSMENT:</a:t>
            </a: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   • Average F1-Score: 0.793</a:t>
            </a: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   • Diseases with clinical-grade performance: 10/28</a:t>
            </a:r>
          </a:p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Liberation Mono;Courier New;DejaVu Sans Mono"/>
                <a:ea typeface="Liberation Mono;Courier New;DejaVu Sans Mono"/>
              </a:rPr>
              <a:t>   • System readiness: High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Advanced Comparative Analysis - Movement Execution vs Imagery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imes New Roman"/>
              <a:ea typeface="Liberation Mono;Courier New;DejaVu Sans Mono"/>
            </a:endParaRPr>
          </a:p>
        </p:txBody>
      </p:sp>
      <p:pic>
        <p:nvPicPr>
          <p:cNvPr id="184" name="Picture 183"/>
          <p:cNvPicPr/>
          <p:nvPr/>
        </p:nvPicPr>
        <p:blipFill>
          <a:blip r:embed="rId2"/>
          <a:stretch/>
        </p:blipFill>
        <p:spPr>
          <a:xfrm>
            <a:off x="1448160" y="2084760"/>
            <a:ext cx="9194440" cy="4187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3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COnt’n</a:t>
            </a:r>
            <a:endParaRPr lang="en-US" sz="3600" b="0" u="none" strike="noStrike" dirty="0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87" name="Picture 186"/>
          <p:cNvPicPr/>
          <p:nvPr/>
        </p:nvPicPr>
        <p:blipFill>
          <a:blip r:embed="rId2"/>
          <a:stretch/>
        </p:blipFill>
        <p:spPr>
          <a:xfrm>
            <a:off x="381000" y="1579990"/>
            <a:ext cx="6286500" cy="46926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Box 187"/>
          <p:cNvSpPr txBox="1"/>
          <p:nvPr/>
        </p:nvSpPr>
        <p:spPr>
          <a:xfrm>
            <a:off x="7004050" y="1968500"/>
            <a:ext cx="4514850" cy="3537976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Statistical Comparison Table: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Region          Condition  F(2,90) p-value Significance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LL Movement Execution     5.16  0.0092           **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LM Movement Execution     2.00  0.1416            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RM Movement Execution   108.34  &lt;0.001          ***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RL Movement Execution     0.46  0.6523            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LL   Imagery Movement     2.40  0.1126            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LM   Imagery Movement   195.67  &lt;0.001          ***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RM   Imagery Movement     3.55  0.0129            *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   RL   Imagery Movement    20.32  &lt;0.001          ***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Times New Roman"/>
              <a:ea typeface="Liberation Mono;Courier New;DejaVu Sans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2046-8B6D-9CF4-CA15-ECD8FB56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8914" y="0"/>
            <a:ext cx="8273143" cy="1063826"/>
          </a:xfrm>
        </p:spPr>
        <p:txBody>
          <a:bodyPr/>
          <a:lstStyle/>
          <a:p>
            <a:pPr algn="ctr"/>
            <a:r>
              <a:rPr lang="en-US" dirty="0"/>
              <a:t>COMPREHENSIVE MODEL COMPARISON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6EFFE-5611-7AD8-C6CA-B7AEF621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" y="921172"/>
            <a:ext cx="10450286" cy="575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48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024200" y="717684"/>
            <a:ext cx="9719640" cy="7993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 defTabSz="914400">
              <a:lnSpc>
                <a:spcPct val="80000"/>
              </a:lnSpc>
              <a:buNone/>
            </a:pPr>
            <a:r>
              <a:rPr lang="en-US" sz="3200" b="0" u="none" strike="noStrike" cap="all" spc="99" dirty="0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Results and Discussions </a:t>
            </a:r>
            <a:br>
              <a:rPr sz="3200" dirty="0"/>
            </a:br>
            <a:r>
              <a:rPr lang="en-US" sz="3200" b="0" u="none" strike="noStrike" cap="all" spc="99" dirty="0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Mobile Optimization Performance Analysis</a:t>
            </a:r>
            <a:endParaRPr lang="en-US" sz="3200" b="0" u="none" strike="noStrike" dirty="0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94" name="Picture 193"/>
          <p:cNvPicPr/>
          <p:nvPr/>
        </p:nvPicPr>
        <p:blipFill>
          <a:blip r:embed="rId2"/>
          <a:stretch/>
        </p:blipFill>
        <p:spPr>
          <a:xfrm>
            <a:off x="571500" y="1774620"/>
            <a:ext cx="6858000" cy="442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Box 194"/>
          <p:cNvSpPr txBox="1"/>
          <p:nvPr/>
        </p:nvSpPr>
        <p:spPr>
          <a:xfrm>
            <a:off x="7543800" y="2057400"/>
            <a:ext cx="4572000" cy="347642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Mobile Architecture Speedup: 7.77x faster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Quantized Model Speedup: 7.21x faster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Model Size Reduction: 95.8%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• Final FPS: 537.4 (vs 74.6 original).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Liberation Mono;Courier New;DejaVu Sans Mono"/>
                <a:cs typeface="Times New Roman" panose="02020603050405020304" pitchFamily="18" charset="0"/>
              </a:rPr>
              <a:t>MOBILE INFERENCE RESULTS:</a:t>
            </a:r>
          </a:p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Liberation Mono;Courier New;DejaVu Sans Mono"/>
                <a:cs typeface="Times New Roman" panose="02020603050405020304" pitchFamily="18" charset="0"/>
              </a:rPr>
              <a:t>Inference Time: 15.20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Liberation Mono;Courier New;DejaVu Sans Mono"/>
                <a:cs typeface="Times New Roman" panose="02020603050405020304" pitchFamily="18" charset="0"/>
              </a:rPr>
              <a:t>ms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Liberation Mono;Courier New;DejaVu Sans Mono"/>
              <a:cs typeface="Times New Roman" panose="02020603050405020304" pitchFamily="18" charset="0"/>
            </a:endParaRPr>
          </a:p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Liberation Mono;Courier New;DejaVu Sans Mono"/>
                <a:cs typeface="Times New Roman" panose="02020603050405020304" pitchFamily="18" charset="0"/>
              </a:rPr>
              <a:t> Inference Speed: 65.8 FPS</a:t>
            </a:r>
          </a:p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Liberation Mono;Courier New;DejaVu Sans Mono"/>
                <a:cs typeface="Times New Roman" panose="02020603050405020304" pitchFamily="18" charset="0"/>
              </a:rPr>
              <a:t> Overall Risk Level: Low</a:t>
            </a:r>
          </a:p>
          <a:p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Liberation Mono;Courier New;DejaVu Sans Mono"/>
                <a:cs typeface="Times New Roman" panose="02020603050405020304" pitchFamily="18" charset="0"/>
              </a:rPr>
              <a:t> Maximum Probability: 0.650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2634583" y="609481"/>
            <a:ext cx="6153748" cy="29383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1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Model Selection and deployment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896143" y="1718282"/>
            <a:ext cx="4459245" cy="77454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Primary Model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w Cen MT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SceneGraphTransformer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Google Shape;160;p11"/>
          <p:cNvSpPr/>
          <p:nvPr/>
        </p:nvSpPr>
        <p:spPr>
          <a:xfrm>
            <a:off x="7063663" y="1718281"/>
            <a:ext cx="4220073" cy="40747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Picture 199"/>
          <p:cNvPicPr/>
          <p:nvPr/>
        </p:nvPicPr>
        <p:blipFill>
          <a:blip r:embed="rId2"/>
          <a:stretch/>
        </p:blipFill>
        <p:spPr>
          <a:xfrm>
            <a:off x="5910823" y="1896515"/>
            <a:ext cx="4942234" cy="3992776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981080" y="380880"/>
            <a:ext cx="807696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Conclusions and limitations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242640" y="1489680"/>
            <a:ext cx="5852880" cy="512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343080" indent="-343080" defTabSz="914400">
              <a:lnSpc>
                <a:spcPct val="90000"/>
              </a:lnSpc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defTabSz="914400">
              <a:lnSpc>
                <a:spcPct val="90000"/>
              </a:lnSpc>
              <a:spcAft>
                <a:spcPts val="201"/>
              </a:spcAft>
              <a:buNone/>
            </a:pP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45 distinct retinal pathologies with &gt;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% accuracy</a:t>
            </a: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3.3x expansion over existing approaches</a:t>
            </a: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Tw Cen MT"/>
              <a:buChar char=" "/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Mobile Deployment Success</a:t>
            </a: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% accuracy retention after optimization</a:t>
            </a:r>
          </a:p>
          <a:p>
            <a:pPr marL="34308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308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22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Google Shape;160;p11"/>
          <p:cNvSpPr/>
          <p:nvPr/>
        </p:nvSpPr>
        <p:spPr>
          <a:xfrm>
            <a:off x="6410160" y="1489680"/>
            <a:ext cx="5538960" cy="512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marL="343080" indent="-343080" defTabSz="914400">
              <a:lnSpc>
                <a:spcPct val="90000"/>
              </a:lnSpc>
              <a:spcAft>
                <a:spcPts val="201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51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201"/>
              </a:spcAft>
            </a:pP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Regulatory Approval: Requires clinical validation before independent use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Dependency: Needs connectivity for updates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Geographic Bias: Limited generalizability across populations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Equipment Variation: Performance varies with different cameras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Temporal Scope: May require retraining for evolving patterns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981080" y="380880"/>
            <a:ext cx="8076960" cy="36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trike="noStrike" cap="all" spc="99">
                <a:solidFill>
                  <a:schemeClr val="dk1">
                    <a:lumMod val="90000"/>
                    <a:lumOff val="10000"/>
                  </a:schemeClr>
                </a:solidFill>
                <a:effectLst/>
                <a:uFillTx/>
                <a:latin typeface="Tw Cen MT Condensed"/>
              </a:rPr>
              <a:t>Next Steps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298440" y="1031760"/>
            <a:ext cx="10935000" cy="544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Aptos" panose="020B0004020202020204" pitchFamily="34" charset="0"/>
              </a:rPr>
              <a:t> </a:t>
            </a:r>
          </a:p>
          <a:p>
            <a:pPr marL="34308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ptos" panose="020B0004020202020204" pitchFamily="34" charset="0"/>
              </a:rPr>
              <a:t> </a:t>
            </a:r>
          </a:p>
          <a:p>
            <a:pPr marL="343080" indent="-34308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9CBEBD"/>
              </a:buClr>
              <a:buFont typeface="Tw Cen MT"/>
              <a:buChar char=" 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ptos" panose="020B0004020202020204" pitchFamily="34" charset="0"/>
              </a:rPr>
              <a:t>Develop a privacy-preserving federated learning framework enabling collaborative model training across multiple healthcare institutions without sharing sensitive patient data. </a:t>
            </a: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Aptos" panose="020B0004020202020204" pitchFamily="34" charset="0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Aptos" panose="020B0004020202020204" pitchFamily="34" charset="0"/>
              </a:rPr>
              <a:t>  Build epidemiological monitoring systems for tracking disease prevalence trends, screening coverage, and intervention effectiveness at population scale.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205"/>
          <p:cNvPicPr/>
          <p:nvPr/>
        </p:nvPicPr>
        <p:blipFill>
          <a:blip r:embed="rId2"/>
          <a:stretch/>
        </p:blipFill>
        <p:spPr>
          <a:xfrm>
            <a:off x="1600200" y="1143000"/>
            <a:ext cx="9829800" cy="4800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</a:majorFont>
      <a:minorFont>
        <a:latin typeface="Tw Cen MT" panose="020B06020201040206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/>
          <a:srcRect/>
          <a:tile tx="0" ty="0" sx="32000" sy="32000" flip="none" algn="tl"/>
        </a:blipFill>
        <a:blipFill rotWithShape="1">
          <a:blip xmlns:r="http://schemas.openxmlformats.org/officeDocument/2006/relationships" r:embed="rId2"/>
          <a:srcRect/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1803</TotalTime>
  <Words>1354</Words>
  <Application>Microsoft Office PowerPoint</Application>
  <PresentationFormat>Widescreen</PresentationFormat>
  <Paragraphs>257</Paragraphs>
  <Slides>33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Aptos</vt:lpstr>
      <vt:lpstr>Arial</vt:lpstr>
      <vt:lpstr>Calibri</vt:lpstr>
      <vt:lpstr>Comic Sans MS</vt:lpstr>
      <vt:lpstr>Liberation Mono;Courier New;DejaVu Sans Mono</vt:lpstr>
      <vt:lpstr>Symbol</vt:lpstr>
      <vt:lpstr>Times New Roman</vt:lpstr>
      <vt:lpstr>Tw Cen MT</vt:lpstr>
      <vt:lpstr>Tw Cen MT Condensed</vt:lpstr>
      <vt:lpstr>Wingdings</vt:lpstr>
      <vt:lpstr>Wingdings 3</vt:lpstr>
      <vt:lpstr>Integral</vt:lpstr>
      <vt:lpstr>Department of Computer Science, COCIS Makerere University Supervisor: Ggaliwango Marvin</vt:lpstr>
      <vt:lpstr>Contents of Presentation</vt:lpstr>
      <vt:lpstr>BACKGROUND AND Introduction</vt:lpstr>
      <vt:lpstr>Related Works/ Recent Trends/ Literature REveiw</vt:lpstr>
      <vt:lpstr>Problem Statements</vt:lpstr>
      <vt:lpstr>Research Questions and Objectives</vt:lpstr>
      <vt:lpstr>Research Contributions &amp; outputs</vt:lpstr>
      <vt:lpstr>Methodology</vt:lpstr>
      <vt:lpstr>SYSTEM ARCHITECTURE</vt:lpstr>
      <vt:lpstr>Dataset Description and Exploratory data analysis</vt:lpstr>
      <vt:lpstr>Cont’n EDA_Bivariate_Analysis</vt:lpstr>
      <vt:lpstr>Cont’n EDA_Bivariate_Analysis</vt:lpstr>
      <vt:lpstr>PowerPoint Presentation</vt:lpstr>
      <vt:lpstr>PowerPoint Presentation</vt:lpstr>
      <vt:lpstr>PowerPoint Presentation</vt:lpstr>
      <vt:lpstr>PowerPoint Presentation</vt:lpstr>
      <vt:lpstr>OUTPUT Results and Discussions</vt:lpstr>
      <vt:lpstr>OUTPUT Results and Discussions</vt:lpstr>
      <vt:lpstr>Expected Results and Discussions – Cont’d </vt:lpstr>
      <vt:lpstr>Expected Results and Discussions – Cont’d </vt:lpstr>
      <vt:lpstr>Expected Results and Discussions – Cont’d </vt:lpstr>
      <vt:lpstr>COMPREHENSIVE MODEL COMPARISON</vt:lpstr>
      <vt:lpstr>EXPLAINABILITY SUMMARY DASHBOARD</vt:lpstr>
      <vt:lpstr>Statistical Significance Analysis</vt:lpstr>
      <vt:lpstr>Cont’n</vt:lpstr>
      <vt:lpstr>Advanced Comparative Analysis - Movement Execution vs Imagery</vt:lpstr>
      <vt:lpstr> COnt’n</vt:lpstr>
      <vt:lpstr>COMPREHENSIVE MODEL COMPARISON</vt:lpstr>
      <vt:lpstr>Results and Discussions  Mobile Optimization Performance Analysis</vt:lpstr>
      <vt:lpstr>Model Selection and deployment</vt:lpstr>
      <vt:lpstr>Conclusions and limitations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KAYIWA RAHIM</dc:creator>
  <dc:description/>
  <cp:lastModifiedBy>Kayiwa Rahim</cp:lastModifiedBy>
  <cp:revision>75</cp:revision>
  <dcterms:created xsi:type="dcterms:W3CDTF">2006-08-16T00:00:00Z</dcterms:created>
  <dcterms:modified xsi:type="dcterms:W3CDTF">2025-10-30T21:41:29Z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Widescreen</vt:lpwstr>
  </property>
  <property fmtid="{D5CDD505-2E9C-101B-9397-08002B2CF9AE}" pid="4" name="Slides">
    <vt:i4>20</vt:i4>
  </property>
</Properties>
</file>